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bf581faf064c30" /><Relationship Type="http://schemas.openxmlformats.org/officeDocument/2006/relationships/extended-properties" Target="/docProps/app.xml" Id="Rf57614f403a440a0" /><Relationship Type="http://schemas.openxmlformats.org/officeDocument/2006/relationships/officeDocument" Target="/ppt/presentation.xml" Id="R98cefb5152ea41a3" /></Relationships>
</file>

<file path=ppt/presentation.xml><?xml version="1.0" encoding="utf-8"?>
<p:presentation xmlns:p="http://schemas.openxmlformats.org/presentationml/2006/main">
  <p:sldMasterIdLst>
    <p:sldMasterId xmlns:r="http://schemas.openxmlformats.org/officeDocument/2006/relationships" id="2147483648" r:id="R4e233f2ea5b64c9f"/>
  </p:sldMasterIdLst>
  <p:notesMasterIdLst>
    <p:notesMasterId xmlns:r="http://schemas.openxmlformats.org/officeDocument/2006/relationships" r:id="R9f1899768218449c"/>
  </p:notesMasterIdLst>
  <p:sldIdLst>
    <p:sldId xmlns:r="http://schemas.openxmlformats.org/officeDocument/2006/relationships" id="256" r:id="R4ec76a7437554c30"/>
    <p:sldId xmlns:r="http://schemas.openxmlformats.org/officeDocument/2006/relationships" id="257" r:id="R1794fbdfcf3e4ac3"/>
    <p:sldId xmlns:r="http://schemas.openxmlformats.org/officeDocument/2006/relationships" id="258" r:id="Rc046f8edfec84d05"/>
    <p:sldId xmlns:r="http://schemas.openxmlformats.org/officeDocument/2006/relationships" id="259" r:id="Rf9c6fe9468b64b1b"/>
    <p:sldId xmlns:r="http://schemas.openxmlformats.org/officeDocument/2006/relationships" id="260" r:id="Rd8ffee9095d04cde"/>
    <p:sldId xmlns:r="http://schemas.openxmlformats.org/officeDocument/2006/relationships" id="261" r:id="R7746bdd2a51d4aa3"/>
    <p:sldId xmlns:r="http://schemas.openxmlformats.org/officeDocument/2006/relationships" id="262" r:id="R413c00e81d6f41d2"/>
    <p:sldId xmlns:r="http://schemas.openxmlformats.org/officeDocument/2006/relationships" id="263" r:id="R615a89401bfe498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e233f2ea5b64c9f" /><Relationship Type="http://schemas.openxmlformats.org/officeDocument/2006/relationships/theme" Target="/ppt/theme/theme1.xml" Id="R4e7d9d8b77404a32" /><Relationship Type="http://schemas.openxmlformats.org/officeDocument/2006/relationships/notesMaster" Target="/ppt/notesMasters/notesMaster1.xml" Id="R9f1899768218449c" /><Relationship Type="http://schemas.openxmlformats.org/officeDocument/2006/relationships/presProps" Target="/ppt/presProps.xml" Id="R483057bc359049d7" /><Relationship Type="http://schemas.openxmlformats.org/officeDocument/2006/relationships/viewProps" Target="/ppt/viewProps.xml" Id="R35602c7b3542457a" /><Relationship Type="http://schemas.openxmlformats.org/officeDocument/2006/relationships/tableStyles" Target="/ppt/tableStyles.xml" Id="Rad5cb285c75840ff" /><Relationship Type="http://schemas.openxmlformats.org/officeDocument/2006/relationships/slide" Target="/ppt/slides/slide1.xml" Id="R4ec76a7437554c30" /><Relationship Type="http://schemas.openxmlformats.org/officeDocument/2006/relationships/slide" Target="/ppt/slides/slide2.xml" Id="R1794fbdfcf3e4ac3" /><Relationship Type="http://schemas.openxmlformats.org/officeDocument/2006/relationships/slide" Target="/ppt/slides/slide3.xml" Id="Rc046f8edfec84d05" /><Relationship Type="http://schemas.openxmlformats.org/officeDocument/2006/relationships/slide" Target="/ppt/slides/slide4.xml" Id="Rf9c6fe9468b64b1b" /><Relationship Type="http://schemas.openxmlformats.org/officeDocument/2006/relationships/slide" Target="/ppt/slides/slide5.xml" Id="Rd8ffee9095d04cde" /><Relationship Type="http://schemas.openxmlformats.org/officeDocument/2006/relationships/slide" Target="/ppt/slides/slide6.xml" Id="R7746bdd2a51d4aa3" /><Relationship Type="http://schemas.openxmlformats.org/officeDocument/2006/relationships/slide" Target="/ppt/slides/slide7.xml" Id="R413c00e81d6f41d2" /><Relationship Type="http://schemas.openxmlformats.org/officeDocument/2006/relationships/slide" Target="/ppt/slides/slide8.xml" Id="R615a89401bfe49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edcc7ee0cc54c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MemoryTutor">
  <a:themeElements>
    <a:clrScheme name="MemoryTutor">
      <a:accent1>
        <a:srgbClr val="4F46E5"/>
      </a:accent1>
      <a:accent2>
        <a:srgbClr val="7C3AED"/>
      </a:accent2>
      <a:accent3>
        <a:srgbClr val="06B6D4"/>
      </a:accent3>
      <a:accent4>
        <a:srgbClr val="10B981"/>
      </a:accent4>
      <a:accent5>
        <a:srgbClr val="F59E0B"/>
      </a:accent5>
      <a:accent6>
        <a:srgbClr val="F43F5E"/>
      </a:accent6>
    </a:clrScheme>
    <a:fontScheme name="Office">
      <a:majorFont>
        <a:latin typeface="Calibri Light"/>
        <a:ea typeface="Calibri Light"/>
        <a:cs typeface="Calibri Light"/>
      </a:majorFont>
      <a:minorFont>
        <a:latin typeface="Calibri"/>
        <a:ea typeface="Calibri"/>
        <a:cs typeface="Calibri"/>
      </a:minorFont>
    </a:fontScheme>
    <a:fmtScheme name="MemoryTutor">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ccb5f91cc64d95" /><Relationship Type="http://schemas.openxmlformats.org/officeDocument/2006/relationships/notesMaster" Target="/ppt/notesMasters/notesMaster1.xml" Id="Rf1e89b2af7f945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21906015e64a19" /><Relationship Type="http://schemas.openxmlformats.org/officeDocument/2006/relationships/notesMaster" Target="/ppt/notesMasters/notesMaster1.xml" Id="R234ba41e4f4b47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194bfb436944c7" /><Relationship Type="http://schemas.openxmlformats.org/officeDocument/2006/relationships/notesMaster" Target="/ppt/notesMasters/notesMaster1.xml" Id="Re95a182d36e440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efc3ff0ca84878" /><Relationship Type="http://schemas.openxmlformats.org/officeDocument/2006/relationships/notesMaster" Target="/ppt/notesMasters/notesMaster1.xml" Id="R4bf54a3b8ec849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a4d6e64e78413d" /><Relationship Type="http://schemas.openxmlformats.org/officeDocument/2006/relationships/notesMaster" Target="/ppt/notesMasters/notesMaster1.xml" Id="Rd2dc3a8b85e84f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7ee1048dc445ea" /><Relationship Type="http://schemas.openxmlformats.org/officeDocument/2006/relationships/notesMaster" Target="/ppt/notesMasters/notesMaster1.xml" Id="Rb56b1f6b5a734c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17f010bca4455c" /><Relationship Type="http://schemas.openxmlformats.org/officeDocument/2006/relationships/notesMaster" Target="/ppt/notesMasters/notesMaster1.xml" Id="Rb8b26315de5042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68864f15f64afc" /><Relationship Type="http://schemas.openxmlformats.org/officeDocument/2006/relationships/notesMaster" Target="/ppt/notesMasters/notesMaster1.xml" Id="Rda9a5ac3d56f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naming the project. The main idea is simple: most LLM tutors are helpful during one chat, but they forget the learner when the chat ends. This project moves beyond a single chat window by adding persistent memory. In the demo I will show a student logging in, chatting with the tutor, having useful memories stored automatically, inspecting and deleting those memories, and then viewing progress and evaluation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frames the problem. A normal tutor can answer one question, but it cannot build continuity. If I told it yesterday that I struggle with fractions or prefer visual explanations, it usually will not know that today. The goal is to make the tutor persistent and personalized while still giving the student control over what is remembered. The memory is not hidden; the student can view, edit, and delete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uses two agents. The Tutor Agent generates the actual tutoring response. The Memory Manager decides what should be remembered, retrieves relevant memories, updates the profile, summarizes similar memories, and deletes memories. The backend is FastAPI with SQLite and SQLAlchemy. Episodic memory is indexed in ChromaDB, while structured profile memory is stored as JSON fields. The LoRA part is simulated for MVP as profile-based parametric personalization.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flow for one tutor message. First the student sends a question. If the selected mode uses memory, the backend retrieves the top relevant episodic memories from Chroma and loads the structured profile. The Tutor Agent answers using scaffolded hints. Then the Memory Manager extracts useful learner facts, such as a misconception or preference. Those facts are stored or merged into existing memories, and the structured profile is updated. Finally, the student can inspect, edit, summarize, or delete the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I will use the demo login. On the dashboard I will point out the stored memory count, weak areas, and progress summary. Then I will open Tutor Chat and ask: I always get confused by fractions and prefer step-by-step explanations. The tutor should respond with guided hints, not just a final answer. After that, I will open Memory Center to show the extracted misconception and preference memories. Then I will briefly show Profile, Progress,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dashboard is important because this project is not only an app; it is also a memory-system experiment. The four modes are no memory, naive retrieval, profile-only simulated LoRA, and hybrid memory. The MVP uses mock metrics but stores the results in the database with the same shape needed for real evaluation later. The metrics measure precision, recall, personalization, forgetting leakage, latency, token usage, and storage growth.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build. The frontend is React with Vite, React Router, Axios, and Tailwind. The backend is FastAPI with SQLite, SQLAlchemy, JWT auth, bcrypt hashing, and Pydantic schemas. The agent layer is modular: Tutor Agent and Memory Manager are separate services. ChromaDB stores vector memory. The app works with mock responses by default, so it does not need paid API keys for the class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takeaway is that memory changes tutoring from a one-off conversation into a continuous learning system. It becomes persistent, personalized, controllable, and measurable. The current system is an MVP, but it has the right structure for future research work: full dataset evaluation, real LoRA training, stronger analytics, and stronger privacy verification. I will end by emphasizing that the student stays in control of the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fcf177dd2d449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7CC86DF4-DF37-4C51-8FD5-AF6798C75ED9}"/>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656BBE8E-C885-4311-8226-430FDDE8E1B6}"/>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DE7FD75D-80EC-49AC-8568-8B889724E41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49035C89-E9DB-4B00-8A0C-F1D94C6430CC}"/>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F32D155F-8A3F-49B4-9B05-DC85E9875B98}"/>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5d4235db365431b" /><Relationship Type="http://schemas.openxmlformats.org/officeDocument/2006/relationships/slideLayout" Target="/ppt/slideLayouts/slideLayout2.xml" Id="R5c6923f2ef6d4d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3056C48E-23F2-41BE-AADA-91E4B8F89E8D}"/>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6923f2ef6d4d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3dace5b4eacf484d" /><Relationship Type="http://schemas.openxmlformats.org/officeDocument/2006/relationships/notesSlide" Target="/ppt/notesSlides/notesSlide1.xml" Id="Rb02be71324334d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824ff9620514ad6" /><Relationship Type="http://schemas.openxmlformats.org/officeDocument/2006/relationships/notesSlide" Target="/ppt/notesSlides/notesSlide2.xml" Id="R230643e3815940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6db1e4f8ba4d36" /><Relationship Type="http://schemas.openxmlformats.org/officeDocument/2006/relationships/notesSlide" Target="/ppt/notesSlides/notesSlide3.xml" Id="R8a258a7b718e4a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bf2746d7f0b411d" /><Relationship Type="http://schemas.openxmlformats.org/officeDocument/2006/relationships/notesSlide" Target="/ppt/notesSlides/notesSlide4.xml" Id="R871ff1fc4a314d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913fc3d753c430f" /><Relationship Type="http://schemas.openxmlformats.org/officeDocument/2006/relationships/notesSlide" Target="/ppt/notesSlides/notesSlide5.xml" Id="R5ba2c4fdeba34a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c3772c7a2b14827" /><Relationship Type="http://schemas.openxmlformats.org/officeDocument/2006/relationships/notesSlide" Target="/ppt/notesSlides/notesSlide6.xml" Id="R4899c3efbc404a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aa6731d4f6b4458" /><Relationship Type="http://schemas.openxmlformats.org/officeDocument/2006/relationships/notesSlide" Target="/ppt/notesSlides/notesSlide7.xml" Id="R7752429c627b42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80b92e2f62b472c" /><Relationship Type="http://schemas.openxmlformats.org/officeDocument/2006/relationships/notesSlide" Target="/ppt/notesSlides/notesSlide8.xml" Id="R26313569c54a4e35"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2C861C8-5CAD-4533-B296-B99C82F09245}"/>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FCE88AA0-4DE4-4270-AB19-2FBCF373385F}"/>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061FA14E-F34C-43CE-9C88-CAB7671A722D}"/>
              </a:ext>
            </a:extLst>
          </p:cNvPr>
          <p:cNvSpPr>
            <a:spLocks xmlns:a="http://schemas.openxmlformats.org/drawingml/2006/main" noGrp="1"/>
          </p:cNvSpPr>
          <p:nvPr/>
        </p:nvSpPr>
        <p:spPr>
          <a:xfrm xmlns:a="http://schemas.openxmlformats.org/drawingml/2006/main">
            <a:off x="666750" y="590550"/>
            <a:ext cx="2190750" cy="323850"/>
          </a:xfrm>
          <a:prstGeom xmlns:a="http://schemas.openxmlformats.org/drawingml/2006/main" prst="roundRect">
            <a:avLst>
              <a:gd name="adj" fmla="val 50000"/>
            </a:avLst>
          </a:prstGeom>
          <a:solidFill xmlns:a="http://schemas.openxmlformats.org/drawingml/2006/main">
            <a:srgbClr val="EEF2FF"/>
          </a:solidFill>
          <a:ln xmlns:a="http://schemas.openxmlformats.org/drawingml/2006/main" w="0">
            <a:solidFill>
              <a:srgbClr val="EEF2FF"/>
            </a:solidFill>
          </a:ln>
        </p:spPr>
        <p:txBody>
          <a:bodyPr xmlns:a="http://schemas.openxmlformats.org/drawingml/2006/main" anchor="ctr"/>
          <a:lstStyle xmlns:a="http://schemas.openxmlformats.org/drawingml/2006/main"/>
          <a:p xmlns:a="http://schemas.openxmlformats.org/drawingml/2006/main">
            <a:pPr algn="ctr">
              <a:defRPr sz="1050" b="1">
                <a:solidFill>
                  <a:srgbClr val="4F46E5"/>
                </a:solidFill>
              </a:defRPr>
            </a:pPr>
            <a:r>
              <a:rPr sz="1050" b="1">
                <a:solidFill>
                  <a:srgbClr val="4F46E5"/>
                </a:solidFill>
              </a:rPr>
              <a:t>5-minute class presentation</a:t>
            </a:r>
          </a:p>
        </p:txBody>
      </p:sp>
      <p:sp>
        <p:nvSpPr>
          <p:cNvPr id="5" name="">
            <a:extLst xmlns:a="http://schemas.openxmlformats.org/drawingml/2006/main">
              <a:ext uri="{FF2B5EF4-FFF2-40B4-BE49-F238E27FC236}">
                <a16:creationId xmlns:a16="http://schemas.microsoft.com/office/drawing/2014/main" id="{15C09C9D-6F6E-46A2-A709-C1D979C7B653}"/>
              </a:ext>
            </a:extLst>
          </p:cNvPr>
          <p:cNvSpPr>
            <a:spLocks xmlns:a="http://schemas.openxmlformats.org/drawingml/2006/main" noGrp="1"/>
          </p:cNvSpPr>
          <p:nvPr/>
        </p:nvSpPr>
        <p:spPr>
          <a:xfrm xmlns:a="http://schemas.openxmlformats.org/drawingml/2006/main">
            <a:off x="666750" y="1200150"/>
            <a:ext cx="8572500" cy="647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172033"/>
                </a:solidFill>
              </a:defRPr>
            </a:pPr>
            <a:r>
              <a:rPr sz="3750" b="1">
                <a:solidFill>
                  <a:srgbClr val="172033"/>
                </a:solidFill>
              </a:rPr>
              <a:t>Beyond the Chat Window</a:t>
            </a:r>
          </a:p>
        </p:txBody>
      </p:sp>
      <p:sp>
        <p:nvSpPr>
          <p:cNvPr id="6" name="">
            <a:extLst xmlns:a="http://schemas.openxmlformats.org/drawingml/2006/main">
              <a:ext uri="{FF2B5EF4-FFF2-40B4-BE49-F238E27FC236}">
                <a16:creationId xmlns:a16="http://schemas.microsoft.com/office/drawing/2014/main" id="{E7800982-6D78-489B-9E1B-7F0BD1E6755F}"/>
              </a:ext>
            </a:extLst>
          </p:cNvPr>
          <p:cNvSpPr>
            <a:spLocks xmlns:a="http://schemas.openxmlformats.org/drawingml/2006/main" noGrp="1"/>
          </p:cNvSpPr>
          <p:nvPr/>
        </p:nvSpPr>
        <p:spPr>
          <a:xfrm xmlns:a="http://schemas.openxmlformats.org/drawingml/2006/main">
            <a:off x="685800" y="1943100"/>
            <a:ext cx="8001000" cy="4191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7C3AED"/>
                </a:solidFill>
              </a:defRPr>
            </a:pPr>
            <a:r>
              <a:rPr sz="2100" b="1">
                <a:solidFill>
                  <a:srgbClr val="7C3AED"/>
                </a:solidFill>
              </a:rPr>
              <a:t>Multi-Agent Memory for Persistent, Personalized Learning</a:t>
            </a:r>
          </a:p>
        </p:txBody>
      </p:sp>
      <p:sp>
        <p:nvSpPr>
          <p:cNvPr id="7" name="">
            <a:extLst xmlns:a="http://schemas.openxmlformats.org/drawingml/2006/main">
              <a:ext uri="{FF2B5EF4-FFF2-40B4-BE49-F238E27FC236}">
                <a16:creationId xmlns:a16="http://schemas.microsoft.com/office/drawing/2014/main" id="{FC3CB4DE-BBA1-445F-BDA8-A6F1E8C081A3}"/>
              </a:ext>
            </a:extLst>
          </p:cNvPr>
          <p:cNvSpPr>
            <a:spLocks xmlns:a="http://schemas.openxmlformats.org/drawingml/2006/main" noGrp="1"/>
          </p:cNvSpPr>
          <p:nvPr/>
        </p:nvSpPr>
        <p:spPr>
          <a:xfrm xmlns:a="http://schemas.openxmlformats.org/drawingml/2006/main">
            <a:off x="685800" y="2647950"/>
            <a:ext cx="6858000" cy="819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0">
                <a:solidFill>
                  <a:srgbClr val="64748B"/>
                </a:solidFill>
              </a:defRPr>
            </a:pPr>
            <a:r>
              <a:rPr sz="1950" b="0">
                <a:solidFill>
                  <a:srgbClr val="64748B"/>
                </a:solidFill>
              </a:rPr>
              <a:t>A full-stack tutoring assistant that remembers goals, misconceptions, preferences, and progress across sessions.</a:t>
            </a:r>
          </a:p>
        </p:txBody>
      </p:sp>
      <p:sp>
        <p:nvSpPr>
          <p:cNvPr id="8" name="">
            <a:extLst xmlns:a="http://schemas.openxmlformats.org/drawingml/2006/main">
              <a:ext uri="{FF2B5EF4-FFF2-40B4-BE49-F238E27FC236}">
                <a16:creationId xmlns:a16="http://schemas.microsoft.com/office/drawing/2014/main" id="{CA9FFF07-0DF0-4353-8C2C-16A63C46CC9A}"/>
              </a:ext>
            </a:extLst>
          </p:cNvPr>
          <p:cNvSpPr>
            <a:spLocks xmlns:a="http://schemas.openxmlformats.org/drawingml/2006/main" noGrp="1"/>
          </p:cNvSpPr>
          <p:nvPr/>
        </p:nvSpPr>
        <p:spPr>
          <a:xfrm xmlns:a="http://schemas.openxmlformats.org/drawingml/2006/main">
            <a:off x="8248650" y="1295400"/>
            <a:ext cx="2857500" cy="2857500"/>
          </a:xfrm>
          <a:prstGeom xmlns:a="http://schemas.openxmlformats.org/drawingml/2006/main" prst="ellipse">
            <a:avLst/>
          </a:prstGeom>
          <a:solidFill xmlns:a="http://schemas.openxmlformats.org/drawingml/2006/main">
            <a:srgbClr val="FFFFFF"/>
          </a:solidFill>
          <a:ln xmlns:a="http://schemas.openxmlformats.org/drawingml/2006/main" w="38100">
            <a:solidFill>
              <a:srgbClr val="4F46E5"/>
            </a:solidFill>
          </a:ln>
        </p:spPr>
      </p:sp>
      <p:sp>
        <p:nvSpPr>
          <p:cNvPr id="9" name="">
            <a:extLst xmlns:a="http://schemas.openxmlformats.org/drawingml/2006/main">
              <a:ext uri="{FF2B5EF4-FFF2-40B4-BE49-F238E27FC236}">
                <a16:creationId xmlns:a16="http://schemas.microsoft.com/office/drawing/2014/main" id="{FF26371F-6AED-4F6B-BAF7-65F9AA47B1C0}"/>
              </a:ext>
            </a:extLst>
          </p:cNvPr>
          <p:cNvSpPr>
            <a:spLocks xmlns:a="http://schemas.openxmlformats.org/drawingml/2006/main" noGrp="1"/>
          </p:cNvSpPr>
          <p:nvPr/>
        </p:nvSpPr>
        <p:spPr>
          <a:xfrm xmlns:a="http://schemas.openxmlformats.org/drawingml/2006/main">
            <a:off x="8839200" y="2000250"/>
            <a:ext cx="1676400" cy="685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172033"/>
                </a:solidFill>
              </a:defRPr>
            </a:pPr>
            <a:r>
              <a:rPr sz="2100" b="1">
                <a:solidFill>
                  <a:srgbClr val="172033"/>
                </a:solidFill>
              </a:rPr>
              <a:t>Tutor</a:t>
            </a:r>
          </a:p>
          <a:p xmlns:a="http://schemas.openxmlformats.org/drawingml/2006/main">
            <a:pPr algn="ctr">
              <a:defRPr sz="2100" b="1">
                <a:solidFill>
                  <a:srgbClr val="172033"/>
                </a:solidFill>
              </a:defRPr>
            </a:pPr>
            <a:r>
              <a:rPr sz="2100" b="1">
                <a:solidFill>
                  <a:srgbClr val="172033"/>
                </a:solidFill>
              </a:rPr>
              <a:t>Agent</a:t>
            </a:r>
          </a:p>
        </p:txBody>
      </p:sp>
      <p:sp>
        <p:nvSpPr>
          <p:cNvPr id="10" name="">
            <a:extLst xmlns:a="http://schemas.openxmlformats.org/drawingml/2006/main">
              <a:ext uri="{FF2B5EF4-FFF2-40B4-BE49-F238E27FC236}">
                <a16:creationId xmlns:a16="http://schemas.microsoft.com/office/drawing/2014/main" id="{8827CC3C-0D3F-44CC-99EC-35E44BA53E89}"/>
              </a:ext>
            </a:extLst>
          </p:cNvPr>
          <p:cNvSpPr>
            <a:spLocks xmlns:a="http://schemas.openxmlformats.org/drawingml/2006/main" noGrp="1"/>
          </p:cNvSpPr>
          <p:nvPr/>
        </p:nvSpPr>
        <p:spPr>
          <a:xfrm xmlns:a="http://schemas.openxmlformats.org/drawingml/2006/main">
            <a:off x="8305800" y="857250"/>
            <a:ext cx="819150" cy="8191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11" name="">
            <a:extLst xmlns:a="http://schemas.openxmlformats.org/drawingml/2006/main">
              <a:ext uri="{FF2B5EF4-FFF2-40B4-BE49-F238E27FC236}">
                <a16:creationId xmlns:a16="http://schemas.microsoft.com/office/drawing/2014/main" id="{9A08C6B2-613B-4C42-A21F-23E7A1A28984}"/>
              </a:ext>
            </a:extLst>
          </p:cNvPr>
          <p:cNvSpPr>
            <a:spLocks xmlns:a="http://schemas.openxmlformats.org/drawingml/2006/main" noGrp="1"/>
          </p:cNvSpPr>
          <p:nvPr/>
        </p:nvSpPr>
        <p:spPr>
          <a:xfrm xmlns:a="http://schemas.openxmlformats.org/drawingml/2006/main">
            <a:off x="8362950" y="1123950"/>
            <a:ext cx="7048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defRPr>
            </a:pPr>
            <a:r>
              <a:rPr sz="975" b="1">
                <a:solidFill>
                  <a:srgbClr val="FFFFFF"/>
                </a:solidFill>
              </a:rPr>
              <a:t>Profile</a:t>
            </a:r>
          </a:p>
        </p:txBody>
      </p:sp>
      <p:sp>
        <p:nvSpPr>
          <p:cNvPr id="12" name="">
            <a:extLst xmlns:a="http://schemas.openxmlformats.org/drawingml/2006/main">
              <a:ext uri="{FF2B5EF4-FFF2-40B4-BE49-F238E27FC236}">
                <a16:creationId xmlns:a16="http://schemas.microsoft.com/office/drawing/2014/main" id="{6F40F3F7-A5B3-48E2-8E3B-80276BA04203}"/>
              </a:ext>
            </a:extLst>
          </p:cNvPr>
          <p:cNvSpPr>
            <a:spLocks xmlns:a="http://schemas.openxmlformats.org/drawingml/2006/main" noGrp="1"/>
          </p:cNvSpPr>
          <p:nvPr/>
        </p:nvSpPr>
        <p:spPr>
          <a:xfrm xmlns:a="http://schemas.openxmlformats.org/drawingml/2006/main">
            <a:off x="10763250" y="1143000"/>
            <a:ext cx="819150" cy="819150"/>
          </a:xfrm>
          <a:prstGeom xmlns:a="http://schemas.openxmlformats.org/drawingml/2006/main" prst="ellipse">
            <a:avLst/>
          </a:prstGeom>
          <a:solidFill xmlns:a="http://schemas.openxmlformats.org/drawingml/2006/main">
            <a:srgbClr val="06B6D4"/>
          </a:solidFill>
          <a:ln xmlns:a="http://schemas.openxmlformats.org/drawingml/2006/main" w="0">
            <a:solidFill>
              <a:srgbClr val="06B6D4"/>
            </a:solidFill>
          </a:ln>
        </p:spPr>
      </p:sp>
      <p:sp>
        <p:nvSpPr>
          <p:cNvPr id="13" name="">
            <a:extLst xmlns:a="http://schemas.openxmlformats.org/drawingml/2006/main">
              <a:ext uri="{FF2B5EF4-FFF2-40B4-BE49-F238E27FC236}">
                <a16:creationId xmlns:a16="http://schemas.microsoft.com/office/drawing/2014/main" id="{348EFA0B-5B5A-4215-8C04-F020BC9DA361}"/>
              </a:ext>
            </a:extLst>
          </p:cNvPr>
          <p:cNvSpPr>
            <a:spLocks xmlns:a="http://schemas.openxmlformats.org/drawingml/2006/main" noGrp="1"/>
          </p:cNvSpPr>
          <p:nvPr/>
        </p:nvSpPr>
        <p:spPr>
          <a:xfrm xmlns:a="http://schemas.openxmlformats.org/drawingml/2006/main">
            <a:off x="10820400" y="1409700"/>
            <a:ext cx="7048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defRPr>
            </a:pPr>
            <a:r>
              <a:rPr sz="975" b="1">
                <a:solidFill>
                  <a:srgbClr val="FFFFFF"/>
                </a:solidFill>
              </a:rPr>
              <a:t>Vector</a:t>
            </a:r>
          </a:p>
        </p:txBody>
      </p:sp>
      <p:sp>
        <p:nvSpPr>
          <p:cNvPr id="14" name="">
            <a:extLst xmlns:a="http://schemas.openxmlformats.org/drawingml/2006/main">
              <a:ext uri="{FF2B5EF4-FFF2-40B4-BE49-F238E27FC236}">
                <a16:creationId xmlns:a16="http://schemas.microsoft.com/office/drawing/2014/main" id="{6F560C2F-485C-4DBE-8EBC-39B448FD1BB2}"/>
              </a:ext>
            </a:extLst>
          </p:cNvPr>
          <p:cNvSpPr>
            <a:spLocks xmlns:a="http://schemas.openxmlformats.org/drawingml/2006/main" noGrp="1"/>
          </p:cNvSpPr>
          <p:nvPr/>
        </p:nvSpPr>
        <p:spPr>
          <a:xfrm xmlns:a="http://schemas.openxmlformats.org/drawingml/2006/main">
            <a:off x="10648950" y="3905250"/>
            <a:ext cx="819150" cy="8191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15" name="">
            <a:extLst xmlns:a="http://schemas.openxmlformats.org/drawingml/2006/main">
              <a:ext uri="{FF2B5EF4-FFF2-40B4-BE49-F238E27FC236}">
                <a16:creationId xmlns:a16="http://schemas.microsoft.com/office/drawing/2014/main" id="{2C23C9CF-91AB-4E4A-925F-73F2DD3506C9}"/>
              </a:ext>
            </a:extLst>
          </p:cNvPr>
          <p:cNvSpPr>
            <a:spLocks xmlns:a="http://schemas.openxmlformats.org/drawingml/2006/main" noGrp="1"/>
          </p:cNvSpPr>
          <p:nvPr/>
        </p:nvSpPr>
        <p:spPr>
          <a:xfrm xmlns:a="http://schemas.openxmlformats.org/drawingml/2006/main">
            <a:off x="10706100" y="4171950"/>
            <a:ext cx="7048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defRPr>
            </a:pPr>
            <a:r>
              <a:rPr sz="975" b="1">
                <a:solidFill>
                  <a:srgbClr val="FFFFFF"/>
                </a:solidFill>
              </a:rPr>
              <a:t>Memory</a:t>
            </a:r>
          </a:p>
        </p:txBody>
      </p:sp>
      <p:sp>
        <p:nvSpPr>
          <p:cNvPr id="16" name="">
            <a:extLst xmlns:a="http://schemas.openxmlformats.org/drawingml/2006/main">
              <a:ext uri="{FF2B5EF4-FFF2-40B4-BE49-F238E27FC236}">
                <a16:creationId xmlns:a16="http://schemas.microsoft.com/office/drawing/2014/main" id="{D482F576-2B3A-4CF7-B989-8089B1C9712B}"/>
              </a:ext>
            </a:extLst>
          </p:cNvPr>
          <p:cNvSpPr>
            <a:spLocks xmlns:a="http://schemas.openxmlformats.org/drawingml/2006/main" noGrp="1"/>
          </p:cNvSpPr>
          <p:nvPr/>
        </p:nvSpPr>
        <p:spPr>
          <a:xfrm xmlns:a="http://schemas.openxmlformats.org/drawingml/2006/main">
            <a:off x="7905750" y="3714750"/>
            <a:ext cx="819150" cy="8191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ln>
        </p:spPr>
      </p:sp>
      <p:sp>
        <p:nvSpPr>
          <p:cNvPr id="17" name="">
            <a:extLst xmlns:a="http://schemas.openxmlformats.org/drawingml/2006/main">
              <a:ext uri="{FF2B5EF4-FFF2-40B4-BE49-F238E27FC236}">
                <a16:creationId xmlns:a16="http://schemas.microsoft.com/office/drawing/2014/main" id="{97E6FC50-0BFF-4F05-A53E-9BA5FC31397D}"/>
              </a:ext>
            </a:extLst>
          </p:cNvPr>
          <p:cNvSpPr>
            <a:spLocks xmlns:a="http://schemas.openxmlformats.org/drawingml/2006/main" noGrp="1"/>
          </p:cNvSpPr>
          <p:nvPr/>
        </p:nvSpPr>
        <p:spPr>
          <a:xfrm xmlns:a="http://schemas.openxmlformats.org/drawingml/2006/main">
            <a:off x="7962900" y="3981450"/>
            <a:ext cx="7048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defRPr>
            </a:pPr>
            <a:r>
              <a:rPr sz="975" b="1">
                <a:solidFill>
                  <a:srgbClr val="FFFFFF"/>
                </a:solidFill>
              </a:rPr>
              <a:t>Eval</a:t>
            </a:r>
          </a:p>
        </p:txBody>
      </p:sp>
      <p:sp>
        <p:nvSpPr>
          <p:cNvPr id="18" name="">
            <a:extLst xmlns:a="http://schemas.openxmlformats.org/drawingml/2006/main">
              <a:ext uri="{FF2B5EF4-FFF2-40B4-BE49-F238E27FC236}">
                <a16:creationId xmlns:a16="http://schemas.microsoft.com/office/drawing/2014/main" id="{BC6557DA-3053-44C1-81B2-A5FD47151FB4}"/>
              </a:ext>
            </a:extLst>
          </p:cNvPr>
          <p:cNvSpPr>
            <a:spLocks xmlns:a="http://schemas.openxmlformats.org/drawingml/2006/main" noGrp="1"/>
          </p:cNvSpPr>
          <p:nvPr/>
        </p:nvSpPr>
        <p:spPr>
          <a:xfrm xmlns:a="http://schemas.openxmlformats.org/drawingml/2006/main">
            <a:off x="666750" y="5143500"/>
            <a:ext cx="10572750" cy="819150"/>
          </a:xfrm>
          <a:prstGeom xmlns:a="http://schemas.openxmlformats.org/drawingml/2006/main" prst="roundRect">
            <a:avLst>
              <a:gd name="adj" fmla="val 12000"/>
            </a:avLst>
          </a:prstGeom>
          <a:solidFill xmlns:a="http://schemas.openxmlformats.org/drawingml/2006/main">
            <a:srgbClr val="FFFFFF">
              <a:alpha val="85098"/>
            </a:srgbClr>
          </a:solidFill>
          <a:ln xmlns:a="http://schemas.openxmlformats.org/drawingml/2006/main" w="9525">
            <a:solidFill>
              <a:srgbClr val="DDE4F0"/>
            </a:solidFill>
          </a:ln>
        </p:spPr>
      </p:sp>
      <p:sp>
        <p:nvSpPr>
          <p:cNvPr id="19" name="">
            <a:extLst xmlns:a="http://schemas.openxmlformats.org/drawingml/2006/main">
              <a:ext uri="{FF2B5EF4-FFF2-40B4-BE49-F238E27FC236}">
                <a16:creationId xmlns:a16="http://schemas.microsoft.com/office/drawing/2014/main" id="{CD7C76D6-D58B-44F4-8EB8-6FA7C289CBA3}"/>
              </a:ext>
            </a:extLst>
          </p:cNvPr>
          <p:cNvSpPr>
            <a:spLocks xmlns:a="http://schemas.openxmlformats.org/drawingml/2006/main" noGrp="1"/>
          </p:cNvSpPr>
          <p:nvPr/>
        </p:nvSpPr>
        <p:spPr>
          <a:xfrm xmlns:a="http://schemas.openxmlformats.org/drawingml/2006/main">
            <a:off x="914400" y="53530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4F46E5"/>
                </a:solidFill>
              </a:defRPr>
            </a:pPr>
            <a:r>
              <a:rPr sz="1350" b="1">
                <a:solidFill>
                  <a:srgbClr val="4F46E5"/>
                </a:solidFill>
              </a:rPr>
              <a:t>Demo promise</a:t>
            </a:r>
          </a:p>
        </p:txBody>
      </p:sp>
      <p:sp>
        <p:nvSpPr>
          <p:cNvPr id="20" name="">
            <a:extLst xmlns:a="http://schemas.openxmlformats.org/drawingml/2006/main">
              <a:ext uri="{FF2B5EF4-FFF2-40B4-BE49-F238E27FC236}">
                <a16:creationId xmlns:a16="http://schemas.microsoft.com/office/drawing/2014/main" id="{670CB061-FA91-4154-B430-50751F2D333F}"/>
              </a:ext>
            </a:extLst>
          </p:cNvPr>
          <p:cNvSpPr>
            <a:spLocks xmlns:a="http://schemas.openxmlformats.org/drawingml/2006/main" noGrp="1"/>
          </p:cNvSpPr>
          <p:nvPr/>
        </p:nvSpPr>
        <p:spPr>
          <a:xfrm xmlns:a="http://schemas.openxmlformats.org/drawingml/2006/main">
            <a:off x="2628900" y="5334000"/>
            <a:ext cx="78105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Login -&gt; chat -&gt; auto memory -&gt; edit/delete -&gt; profile/progress -&gt; evaluation dashboard</a:t>
            </a:r>
          </a:p>
        </p:txBody>
      </p:sp>
    </p:spTree>
    <p:extLst>
      <p:ext uri="{BB962C8B-B14F-4D97-AF65-F5344CB8AC3E}">
        <p14:creationId xmlns:p14="http://schemas.microsoft.com/office/powerpoint/2010/main" val="83761773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6771AB1-54A8-4AD3-8038-C6FFD8F2C260}"/>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1F6CFB36-1EDD-4213-9FDB-7B06BF7B517E}"/>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E176AA41-39EB-4768-8C6F-AA707389138E}"/>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PROBLEM AND GOAL</a:t>
            </a:r>
          </a:p>
        </p:txBody>
      </p:sp>
      <p:sp>
        <p:nvSpPr>
          <p:cNvPr id="5" name="">
            <a:extLst xmlns:a="http://schemas.openxmlformats.org/drawingml/2006/main">
              <a:ext uri="{FF2B5EF4-FFF2-40B4-BE49-F238E27FC236}">
                <a16:creationId xmlns:a16="http://schemas.microsoft.com/office/drawing/2014/main" id="{89A854D4-5729-435C-AD13-4561E1DCD3BF}"/>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Why Stateless Tutors Fall Short</a:t>
            </a:r>
          </a:p>
        </p:txBody>
      </p:sp>
      <p:sp>
        <p:nvSpPr>
          <p:cNvPr id="6" name="">
            <a:extLst xmlns:a="http://schemas.openxmlformats.org/drawingml/2006/main">
              <a:ext uri="{FF2B5EF4-FFF2-40B4-BE49-F238E27FC236}">
                <a16:creationId xmlns:a16="http://schemas.microsoft.com/office/drawing/2014/main" id="{EDCBC449-3731-43A2-8E87-B31B12CC77EA}"/>
              </a:ext>
            </a:extLst>
          </p:cNvPr>
          <p:cNvSpPr>
            <a:spLocks xmlns:a="http://schemas.openxmlformats.org/drawingml/2006/main" noGrp="1"/>
          </p:cNvSpPr>
          <p:nvPr/>
        </p:nvSpPr>
        <p:spPr>
          <a:xfrm xmlns:a="http://schemas.openxmlformats.org/drawingml/2006/main">
            <a:off x="666750" y="1714500"/>
            <a:ext cx="4953000" cy="3333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FA4D77AA-9067-40D7-9848-4EBF2FC92AD0}"/>
              </a:ext>
            </a:extLst>
          </p:cNvPr>
          <p:cNvSpPr>
            <a:spLocks xmlns:a="http://schemas.openxmlformats.org/drawingml/2006/main" noGrp="1"/>
          </p:cNvSpPr>
          <p:nvPr/>
        </p:nvSpPr>
        <p:spPr>
          <a:xfrm xmlns:a="http://schemas.openxmlformats.org/drawingml/2006/main">
            <a:off x="6572250" y="1714500"/>
            <a:ext cx="4953000" cy="33337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C7D2FE"/>
            </a:solidFill>
          </a:ln>
        </p:spPr>
      </p:sp>
      <p:sp>
        <p:nvSpPr>
          <p:cNvPr id="8" name="">
            <a:extLst xmlns:a="http://schemas.openxmlformats.org/drawingml/2006/main">
              <a:ext uri="{FF2B5EF4-FFF2-40B4-BE49-F238E27FC236}">
                <a16:creationId xmlns:a16="http://schemas.microsoft.com/office/drawing/2014/main" id="{2697DA22-D84C-44CB-B27E-3A520A6254C1}"/>
              </a:ext>
            </a:extLst>
          </p:cNvPr>
          <p:cNvSpPr>
            <a:spLocks xmlns:a="http://schemas.openxmlformats.org/drawingml/2006/main" noGrp="1"/>
          </p:cNvSpPr>
          <p:nvPr/>
        </p:nvSpPr>
        <p:spPr>
          <a:xfrm xmlns:a="http://schemas.openxmlformats.org/drawingml/2006/main">
            <a:off x="1047750" y="2038350"/>
            <a:ext cx="3429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33"/>
                </a:solidFill>
              </a:defRPr>
            </a:pPr>
            <a:r>
              <a:rPr sz="2100" b="1">
                <a:solidFill>
                  <a:srgbClr val="172033"/>
                </a:solidFill>
              </a:rPr>
              <a:t>Typical LLM Tutor</a:t>
            </a:r>
          </a:p>
        </p:txBody>
      </p:sp>
      <p:sp>
        <p:nvSpPr>
          <p:cNvPr id="9" name="">
            <a:extLst xmlns:a="http://schemas.openxmlformats.org/drawingml/2006/main">
              <a:ext uri="{FF2B5EF4-FFF2-40B4-BE49-F238E27FC236}">
                <a16:creationId xmlns:a16="http://schemas.microsoft.com/office/drawing/2014/main" id="{446D9E2B-9C2E-4FDB-A367-7FBCD7A03E11}"/>
              </a:ext>
            </a:extLst>
          </p:cNvPr>
          <p:cNvSpPr>
            <a:spLocks xmlns:a="http://schemas.openxmlformats.org/drawingml/2006/main" noGrp="1"/>
          </p:cNvSpPr>
          <p:nvPr/>
        </p:nvSpPr>
        <p:spPr>
          <a:xfrm xmlns:a="http://schemas.openxmlformats.org/drawingml/2006/main">
            <a:off x="1066800" y="2724150"/>
            <a:ext cx="133350" cy="133350"/>
          </a:xfrm>
          <a:prstGeom xmlns:a="http://schemas.openxmlformats.org/drawingml/2006/main" prst="ellipse">
            <a:avLst/>
          </a:prstGeom>
          <a:solidFill xmlns:a="http://schemas.openxmlformats.org/drawingml/2006/main">
            <a:srgbClr val="F43F5E"/>
          </a:solidFill>
          <a:ln xmlns:a="http://schemas.openxmlformats.org/drawingml/2006/main" w="0">
            <a:solidFill>
              <a:srgbClr val="F43F5E"/>
            </a:solidFill>
          </a:ln>
        </p:spPr>
      </p:sp>
      <p:sp>
        <p:nvSpPr>
          <p:cNvPr id="10" name="">
            <a:extLst xmlns:a="http://schemas.openxmlformats.org/drawingml/2006/main">
              <a:ext uri="{FF2B5EF4-FFF2-40B4-BE49-F238E27FC236}">
                <a16:creationId xmlns:a16="http://schemas.microsoft.com/office/drawing/2014/main" id="{31D3DCCE-E56D-4420-B291-685C657C40DA}"/>
              </a:ext>
            </a:extLst>
          </p:cNvPr>
          <p:cNvSpPr>
            <a:spLocks xmlns:a="http://schemas.openxmlformats.org/drawingml/2006/main" noGrp="1"/>
          </p:cNvSpPr>
          <p:nvPr/>
        </p:nvSpPr>
        <p:spPr>
          <a:xfrm xmlns:a="http://schemas.openxmlformats.org/drawingml/2006/main">
            <a:off x="1333500" y="264795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Forgets past sessions</a:t>
            </a:r>
          </a:p>
        </p:txBody>
      </p:sp>
      <p:sp>
        <p:nvSpPr>
          <p:cNvPr id="11" name="">
            <a:extLst xmlns:a="http://schemas.openxmlformats.org/drawingml/2006/main">
              <a:ext uri="{FF2B5EF4-FFF2-40B4-BE49-F238E27FC236}">
                <a16:creationId xmlns:a16="http://schemas.microsoft.com/office/drawing/2014/main" id="{E5DDE6BA-31FF-4FF6-8214-B166066610A7}"/>
              </a:ext>
            </a:extLst>
          </p:cNvPr>
          <p:cNvSpPr>
            <a:spLocks xmlns:a="http://schemas.openxmlformats.org/drawingml/2006/main" noGrp="1"/>
          </p:cNvSpPr>
          <p:nvPr/>
        </p:nvSpPr>
        <p:spPr>
          <a:xfrm xmlns:a="http://schemas.openxmlformats.org/drawingml/2006/main">
            <a:off x="1066800" y="3200400"/>
            <a:ext cx="133350" cy="133350"/>
          </a:xfrm>
          <a:prstGeom xmlns:a="http://schemas.openxmlformats.org/drawingml/2006/main" prst="ellipse">
            <a:avLst/>
          </a:prstGeom>
          <a:solidFill xmlns:a="http://schemas.openxmlformats.org/drawingml/2006/main">
            <a:srgbClr val="F43F5E"/>
          </a:solidFill>
          <a:ln xmlns:a="http://schemas.openxmlformats.org/drawingml/2006/main" w="0">
            <a:solidFill>
              <a:srgbClr val="F43F5E"/>
            </a:solidFill>
          </a:ln>
        </p:spPr>
      </p:sp>
      <p:sp>
        <p:nvSpPr>
          <p:cNvPr id="12" name="">
            <a:extLst xmlns:a="http://schemas.openxmlformats.org/drawingml/2006/main">
              <a:ext uri="{FF2B5EF4-FFF2-40B4-BE49-F238E27FC236}">
                <a16:creationId xmlns:a16="http://schemas.microsoft.com/office/drawing/2014/main" id="{E98496E7-E2C7-462A-BFCE-097495ABF966}"/>
              </a:ext>
            </a:extLst>
          </p:cNvPr>
          <p:cNvSpPr>
            <a:spLocks xmlns:a="http://schemas.openxmlformats.org/drawingml/2006/main" noGrp="1"/>
          </p:cNvSpPr>
          <p:nvPr/>
        </p:nvSpPr>
        <p:spPr>
          <a:xfrm xmlns:a="http://schemas.openxmlformats.org/drawingml/2006/main">
            <a:off x="1333500" y="312420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Misses recurring misconceptions</a:t>
            </a:r>
          </a:p>
        </p:txBody>
      </p:sp>
      <p:sp>
        <p:nvSpPr>
          <p:cNvPr id="13" name="">
            <a:extLst xmlns:a="http://schemas.openxmlformats.org/drawingml/2006/main">
              <a:ext uri="{FF2B5EF4-FFF2-40B4-BE49-F238E27FC236}">
                <a16:creationId xmlns:a16="http://schemas.microsoft.com/office/drawing/2014/main" id="{1A31F765-06D3-48A8-BF6A-B073ED838A3F}"/>
              </a:ext>
            </a:extLst>
          </p:cNvPr>
          <p:cNvSpPr>
            <a:spLocks xmlns:a="http://schemas.openxmlformats.org/drawingml/2006/main" noGrp="1"/>
          </p:cNvSpPr>
          <p:nvPr/>
        </p:nvSpPr>
        <p:spPr>
          <a:xfrm xmlns:a="http://schemas.openxmlformats.org/drawingml/2006/main">
            <a:off x="1066800" y="3676650"/>
            <a:ext cx="133350" cy="133350"/>
          </a:xfrm>
          <a:prstGeom xmlns:a="http://schemas.openxmlformats.org/drawingml/2006/main" prst="ellipse">
            <a:avLst/>
          </a:prstGeom>
          <a:solidFill xmlns:a="http://schemas.openxmlformats.org/drawingml/2006/main">
            <a:srgbClr val="F43F5E"/>
          </a:solidFill>
          <a:ln xmlns:a="http://schemas.openxmlformats.org/drawingml/2006/main" w="0">
            <a:solidFill>
              <a:srgbClr val="F43F5E"/>
            </a:solidFill>
          </a:ln>
        </p:spPr>
      </p:sp>
      <p:sp>
        <p:nvSpPr>
          <p:cNvPr id="14" name="">
            <a:extLst xmlns:a="http://schemas.openxmlformats.org/drawingml/2006/main">
              <a:ext uri="{FF2B5EF4-FFF2-40B4-BE49-F238E27FC236}">
                <a16:creationId xmlns:a16="http://schemas.microsoft.com/office/drawing/2014/main" id="{7E277C42-A82F-42BD-B72A-60D1FACB8300}"/>
              </a:ext>
            </a:extLst>
          </p:cNvPr>
          <p:cNvSpPr>
            <a:spLocks xmlns:a="http://schemas.openxmlformats.org/drawingml/2006/main" noGrp="1"/>
          </p:cNvSpPr>
          <p:nvPr/>
        </p:nvSpPr>
        <p:spPr>
          <a:xfrm xmlns:a="http://schemas.openxmlformats.org/drawingml/2006/main">
            <a:off x="1333500" y="360045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Repeats generic explanations</a:t>
            </a:r>
          </a:p>
        </p:txBody>
      </p:sp>
      <p:sp>
        <p:nvSpPr>
          <p:cNvPr id="15" name="">
            <a:extLst xmlns:a="http://schemas.openxmlformats.org/drawingml/2006/main">
              <a:ext uri="{FF2B5EF4-FFF2-40B4-BE49-F238E27FC236}">
                <a16:creationId xmlns:a16="http://schemas.microsoft.com/office/drawing/2014/main" id="{D01E36B9-F09D-4672-A3C4-4A4125178CA2}"/>
              </a:ext>
            </a:extLst>
          </p:cNvPr>
          <p:cNvSpPr>
            <a:spLocks xmlns:a="http://schemas.openxmlformats.org/drawingml/2006/main" noGrp="1"/>
          </p:cNvSpPr>
          <p:nvPr/>
        </p:nvSpPr>
        <p:spPr>
          <a:xfrm xmlns:a="http://schemas.openxmlformats.org/drawingml/2006/main">
            <a:off x="1066800" y="4152900"/>
            <a:ext cx="133350" cy="133350"/>
          </a:xfrm>
          <a:prstGeom xmlns:a="http://schemas.openxmlformats.org/drawingml/2006/main" prst="ellipse">
            <a:avLst/>
          </a:prstGeom>
          <a:solidFill xmlns:a="http://schemas.openxmlformats.org/drawingml/2006/main">
            <a:srgbClr val="F43F5E"/>
          </a:solidFill>
          <a:ln xmlns:a="http://schemas.openxmlformats.org/drawingml/2006/main" w="0">
            <a:solidFill>
              <a:srgbClr val="F43F5E"/>
            </a:solidFill>
          </a:ln>
        </p:spPr>
      </p:sp>
      <p:sp>
        <p:nvSpPr>
          <p:cNvPr id="16" name="">
            <a:extLst xmlns:a="http://schemas.openxmlformats.org/drawingml/2006/main">
              <a:ext uri="{FF2B5EF4-FFF2-40B4-BE49-F238E27FC236}">
                <a16:creationId xmlns:a16="http://schemas.microsoft.com/office/drawing/2014/main" id="{F1ED8236-1D03-4282-9AF2-099A891B8542}"/>
              </a:ext>
            </a:extLst>
          </p:cNvPr>
          <p:cNvSpPr>
            <a:spLocks xmlns:a="http://schemas.openxmlformats.org/drawingml/2006/main" noGrp="1"/>
          </p:cNvSpPr>
          <p:nvPr/>
        </p:nvSpPr>
        <p:spPr>
          <a:xfrm xmlns:a="http://schemas.openxmlformats.org/drawingml/2006/main">
            <a:off x="1333500" y="407670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No learner-controlled memory</a:t>
            </a:r>
          </a:p>
        </p:txBody>
      </p:sp>
      <p:sp>
        <p:nvSpPr>
          <p:cNvPr id="17" name="">
            <a:extLst xmlns:a="http://schemas.openxmlformats.org/drawingml/2006/main">
              <a:ext uri="{FF2B5EF4-FFF2-40B4-BE49-F238E27FC236}">
                <a16:creationId xmlns:a16="http://schemas.microsoft.com/office/drawing/2014/main" id="{FF4EE7A7-1032-448C-B635-C590DF2EC442}"/>
              </a:ext>
            </a:extLst>
          </p:cNvPr>
          <p:cNvSpPr>
            <a:spLocks xmlns:a="http://schemas.openxmlformats.org/drawingml/2006/main" noGrp="1"/>
          </p:cNvSpPr>
          <p:nvPr/>
        </p:nvSpPr>
        <p:spPr>
          <a:xfrm xmlns:a="http://schemas.openxmlformats.org/drawingml/2006/main">
            <a:off x="6953250" y="2038350"/>
            <a:ext cx="36195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33"/>
                </a:solidFill>
              </a:defRPr>
            </a:pPr>
            <a:r>
              <a:rPr sz="2100" b="1">
                <a:solidFill>
                  <a:srgbClr val="172033"/>
                </a:solidFill>
              </a:rPr>
              <a:t>Memory Tutor Goal</a:t>
            </a:r>
          </a:p>
        </p:txBody>
      </p:sp>
      <p:sp>
        <p:nvSpPr>
          <p:cNvPr id="18" name="">
            <a:extLst xmlns:a="http://schemas.openxmlformats.org/drawingml/2006/main">
              <a:ext uri="{FF2B5EF4-FFF2-40B4-BE49-F238E27FC236}">
                <a16:creationId xmlns:a16="http://schemas.microsoft.com/office/drawing/2014/main" id="{EF64087E-4B04-4E7D-846C-C349EC2C2094}"/>
              </a:ext>
            </a:extLst>
          </p:cNvPr>
          <p:cNvSpPr>
            <a:spLocks xmlns:a="http://schemas.openxmlformats.org/drawingml/2006/main" noGrp="1"/>
          </p:cNvSpPr>
          <p:nvPr/>
        </p:nvSpPr>
        <p:spPr>
          <a:xfrm xmlns:a="http://schemas.openxmlformats.org/drawingml/2006/main">
            <a:off x="6972300" y="272415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19" name="">
            <a:extLst xmlns:a="http://schemas.openxmlformats.org/drawingml/2006/main">
              <a:ext uri="{FF2B5EF4-FFF2-40B4-BE49-F238E27FC236}">
                <a16:creationId xmlns:a16="http://schemas.microsoft.com/office/drawing/2014/main" id="{37848C07-3882-499A-A69F-D80BEFE62698}"/>
              </a:ext>
            </a:extLst>
          </p:cNvPr>
          <p:cNvSpPr>
            <a:spLocks xmlns:a="http://schemas.openxmlformats.org/drawingml/2006/main" noGrp="1"/>
          </p:cNvSpPr>
          <p:nvPr/>
        </p:nvSpPr>
        <p:spPr>
          <a:xfrm xmlns:a="http://schemas.openxmlformats.org/drawingml/2006/main">
            <a:off x="7239000" y="264795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Remember useful learner facts</a:t>
            </a:r>
          </a:p>
        </p:txBody>
      </p:sp>
      <p:sp>
        <p:nvSpPr>
          <p:cNvPr id="20" name="">
            <a:extLst xmlns:a="http://schemas.openxmlformats.org/drawingml/2006/main">
              <a:ext uri="{FF2B5EF4-FFF2-40B4-BE49-F238E27FC236}">
                <a16:creationId xmlns:a16="http://schemas.microsoft.com/office/drawing/2014/main" id="{454BB6D2-989C-4D87-82C5-CFF1F565D053}"/>
              </a:ext>
            </a:extLst>
          </p:cNvPr>
          <p:cNvSpPr>
            <a:spLocks xmlns:a="http://schemas.openxmlformats.org/drawingml/2006/main" noGrp="1"/>
          </p:cNvSpPr>
          <p:nvPr/>
        </p:nvSpPr>
        <p:spPr>
          <a:xfrm xmlns:a="http://schemas.openxmlformats.org/drawingml/2006/main">
            <a:off x="6972300" y="32004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21" name="">
            <a:extLst xmlns:a="http://schemas.openxmlformats.org/drawingml/2006/main">
              <a:ext uri="{FF2B5EF4-FFF2-40B4-BE49-F238E27FC236}">
                <a16:creationId xmlns:a16="http://schemas.microsoft.com/office/drawing/2014/main" id="{9BDA8227-A929-48BA-9062-D15C743D27C2}"/>
              </a:ext>
            </a:extLst>
          </p:cNvPr>
          <p:cNvSpPr>
            <a:spLocks xmlns:a="http://schemas.openxmlformats.org/drawingml/2006/main" noGrp="1"/>
          </p:cNvSpPr>
          <p:nvPr/>
        </p:nvSpPr>
        <p:spPr>
          <a:xfrm xmlns:a="http://schemas.openxmlformats.org/drawingml/2006/main">
            <a:off x="7239000" y="312420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Personalize explanations</a:t>
            </a:r>
          </a:p>
        </p:txBody>
      </p:sp>
      <p:sp>
        <p:nvSpPr>
          <p:cNvPr id="22" name="">
            <a:extLst xmlns:a="http://schemas.openxmlformats.org/drawingml/2006/main">
              <a:ext uri="{FF2B5EF4-FFF2-40B4-BE49-F238E27FC236}">
                <a16:creationId xmlns:a16="http://schemas.microsoft.com/office/drawing/2014/main" id="{1EC73090-6DDE-4FAD-A66E-78A02E65F7AB}"/>
              </a:ext>
            </a:extLst>
          </p:cNvPr>
          <p:cNvSpPr>
            <a:spLocks xmlns:a="http://schemas.openxmlformats.org/drawingml/2006/main" noGrp="1"/>
          </p:cNvSpPr>
          <p:nvPr/>
        </p:nvSpPr>
        <p:spPr>
          <a:xfrm xmlns:a="http://schemas.openxmlformats.org/drawingml/2006/main">
            <a:off x="6972300" y="367665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23" name="">
            <a:extLst xmlns:a="http://schemas.openxmlformats.org/drawingml/2006/main">
              <a:ext uri="{FF2B5EF4-FFF2-40B4-BE49-F238E27FC236}">
                <a16:creationId xmlns:a16="http://schemas.microsoft.com/office/drawing/2014/main" id="{A4085C66-78DF-406F-9F2B-7448E199E80C}"/>
              </a:ext>
            </a:extLst>
          </p:cNvPr>
          <p:cNvSpPr>
            <a:spLocks xmlns:a="http://schemas.openxmlformats.org/drawingml/2006/main" noGrp="1"/>
          </p:cNvSpPr>
          <p:nvPr/>
        </p:nvSpPr>
        <p:spPr>
          <a:xfrm xmlns:a="http://schemas.openxmlformats.org/drawingml/2006/main">
            <a:off x="7239000" y="360045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4659"/>
          </a:bodyPr>
          <a:lstStyle xmlns:a="http://schemas.openxmlformats.org/drawingml/2006/main"/>
          <a:p xmlns:a="http://schemas.openxmlformats.org/drawingml/2006/main">
            <a:pPr algn="l">
              <a:defRPr sz="1725" b="0">
                <a:solidFill>
                  <a:srgbClr val="172033"/>
                </a:solidFill>
              </a:defRPr>
            </a:pPr>
            <a:r>
              <a:rPr sz="1725" b="0">
                <a:solidFill>
                  <a:srgbClr val="172033"/>
                </a:solidFill>
              </a:rPr>
              <a:t>Let students inspect and delete memory</a:t>
            </a:r>
          </a:p>
        </p:txBody>
      </p:sp>
      <p:sp>
        <p:nvSpPr>
          <p:cNvPr id="24" name="">
            <a:extLst xmlns:a="http://schemas.openxmlformats.org/drawingml/2006/main">
              <a:ext uri="{FF2B5EF4-FFF2-40B4-BE49-F238E27FC236}">
                <a16:creationId xmlns:a16="http://schemas.microsoft.com/office/drawing/2014/main" id="{8EA44158-A4E6-4183-9BE9-3CEB7BDD103A}"/>
              </a:ext>
            </a:extLst>
          </p:cNvPr>
          <p:cNvSpPr>
            <a:spLocks xmlns:a="http://schemas.openxmlformats.org/drawingml/2006/main" noGrp="1"/>
          </p:cNvSpPr>
          <p:nvPr/>
        </p:nvSpPr>
        <p:spPr>
          <a:xfrm xmlns:a="http://schemas.openxmlformats.org/drawingml/2006/main">
            <a:off x="6972300" y="41529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25" name="">
            <a:extLst xmlns:a="http://schemas.openxmlformats.org/drawingml/2006/main">
              <a:ext uri="{FF2B5EF4-FFF2-40B4-BE49-F238E27FC236}">
                <a16:creationId xmlns:a16="http://schemas.microsoft.com/office/drawing/2014/main" id="{1B1A5A39-C115-4CD6-A205-687BE462D195}"/>
              </a:ext>
            </a:extLst>
          </p:cNvPr>
          <p:cNvSpPr>
            <a:spLocks xmlns:a="http://schemas.openxmlformats.org/drawingml/2006/main" noGrp="1"/>
          </p:cNvSpPr>
          <p:nvPr/>
        </p:nvSpPr>
        <p:spPr>
          <a:xfrm xmlns:a="http://schemas.openxmlformats.org/drawingml/2006/main">
            <a:off x="7239000" y="4076700"/>
            <a:ext cx="373380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72033"/>
                </a:solidFill>
              </a:defRPr>
            </a:pPr>
            <a:r>
              <a:rPr sz="1725" b="0">
                <a:solidFill>
                  <a:srgbClr val="172033"/>
                </a:solidFill>
              </a:rPr>
              <a:t>Evaluate memory quality</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5619750" y="3381375"/>
            <a:ext cx="952500" cy="0"/>
          </a:xfrm>
          <a:prstGeom xmlns:a="http://schemas.openxmlformats.org/drawingml/2006/main" prst="straightConnector1">
            <a:avLst/>
          </a:prstGeom>
          <a:ln xmlns:a="http://schemas.openxmlformats.org/drawingml/2006/main" w="19050">
            <a:solidFill>
              <a:srgbClr val="7C3AED"/>
            </a:solidFill>
            <a:prstDash val="solid"/>
            <a:headEnd type="arrow" w="med" len="med"/>
          </a:ln>
        </p:spPr>
      </p:cxnSp>
      <p:sp>
        <p:nvSpPr>
          <p:cNvPr id="27" name="">
            <a:extLst xmlns:a="http://schemas.openxmlformats.org/drawingml/2006/main">
              <a:ext uri="{FF2B5EF4-FFF2-40B4-BE49-F238E27FC236}">
                <a16:creationId xmlns:a16="http://schemas.microsoft.com/office/drawing/2014/main" id="{709424D3-6145-439C-A844-14F99A799370}"/>
              </a:ext>
            </a:extLst>
          </p:cNvPr>
          <p:cNvSpPr>
            <a:spLocks xmlns:a="http://schemas.openxmlformats.org/drawingml/2006/main" noGrp="1"/>
          </p:cNvSpPr>
          <p:nvPr/>
        </p:nvSpPr>
        <p:spPr>
          <a:xfrm xmlns:a="http://schemas.openxmlformats.org/drawingml/2006/main">
            <a:off x="2457450" y="5581650"/>
            <a:ext cx="7239000" cy="323850"/>
          </a:xfrm>
          <a:prstGeom xmlns:a="http://schemas.openxmlformats.org/drawingml/2006/main" prst="roundRect">
            <a:avLst>
              <a:gd name="adj" fmla="val 50000"/>
            </a:avLst>
          </a:prstGeom>
          <a:solidFill xmlns:a="http://schemas.openxmlformats.org/drawingml/2006/main">
            <a:srgbClr val="DCFCE7"/>
          </a:solidFill>
          <a:ln xmlns:a="http://schemas.openxmlformats.org/drawingml/2006/main" w="0">
            <a:solidFill>
              <a:srgbClr val="DCFCE7"/>
            </a:solidFill>
          </a:ln>
        </p:spPr>
        <p:txBody>
          <a:bodyPr xmlns:a="http://schemas.openxmlformats.org/drawingml/2006/main" anchor="ctr"/>
          <a:lstStyle xmlns:a="http://schemas.openxmlformats.org/drawingml/2006/main"/>
          <a:p xmlns:a="http://schemas.openxmlformats.org/drawingml/2006/main">
            <a:pPr algn="ctr">
              <a:defRPr sz="1050" b="1">
                <a:solidFill>
                  <a:srgbClr val="047857"/>
                </a:solidFill>
              </a:defRPr>
            </a:pPr>
            <a:r>
              <a:rPr sz="1050" b="1">
                <a:solidFill>
                  <a:srgbClr val="047857"/>
                </a:solidFill>
              </a:rPr>
              <a:t>Core claim: memory makes tutoring continuous, controllable, and measurable.</a:t>
            </a:r>
          </a:p>
        </p:txBody>
      </p:sp>
    </p:spTree>
    <p:extLst>
      <p:ext uri="{BB962C8B-B14F-4D97-AF65-F5344CB8AC3E}">
        <p14:creationId xmlns:p14="http://schemas.microsoft.com/office/powerpoint/2010/main" val="42950094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89FFBE5-E8AC-468D-856B-773FB5EE295C}"/>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6B45534A-8140-48D6-B9CF-5C0D9069765E}"/>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0B486ABA-AF00-42EE-9F07-C2A614681ED0}"/>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SYSTEM DESIGN</a:t>
            </a:r>
          </a:p>
        </p:txBody>
      </p:sp>
      <p:sp>
        <p:nvSpPr>
          <p:cNvPr id="5" name="">
            <a:extLst xmlns:a="http://schemas.openxmlformats.org/drawingml/2006/main">
              <a:ext uri="{FF2B5EF4-FFF2-40B4-BE49-F238E27FC236}">
                <a16:creationId xmlns:a16="http://schemas.microsoft.com/office/drawing/2014/main" id="{1C81969E-FE59-4BF4-AC48-FF1E8110C74F}"/>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Multi-Agent Architecture</a:t>
            </a:r>
          </a:p>
        </p:txBody>
      </p:sp>
      <p:sp>
        <p:nvSpPr>
          <p:cNvPr id="6" name="">
            <a:extLst xmlns:a="http://schemas.openxmlformats.org/drawingml/2006/main">
              <a:ext uri="{FF2B5EF4-FFF2-40B4-BE49-F238E27FC236}">
                <a16:creationId xmlns:a16="http://schemas.microsoft.com/office/drawing/2014/main" id="{BCCD4992-B9F1-4619-99B5-9B753F7E54B4}"/>
              </a:ext>
            </a:extLst>
          </p:cNvPr>
          <p:cNvSpPr>
            <a:spLocks xmlns:a="http://schemas.openxmlformats.org/drawingml/2006/main" noGrp="1"/>
          </p:cNvSpPr>
          <p:nvPr/>
        </p:nvSpPr>
        <p:spPr>
          <a:xfrm xmlns:a="http://schemas.openxmlformats.org/drawingml/2006/main">
            <a:off x="742950" y="1809750"/>
            <a:ext cx="2381250" cy="1047750"/>
          </a:xfrm>
          <a:prstGeom xmlns:a="http://schemas.openxmlformats.org/drawingml/2006/main" prst="roundRect">
            <a:avLst>
              <a:gd name="adj" fmla="val 12000"/>
            </a:avLst>
          </a:prstGeom>
          <a:solidFill xmlns:a="http://schemas.openxmlformats.org/drawingml/2006/main">
            <a:srgbClr val="E0F7FE"/>
          </a:solidFill>
          <a:ln xmlns:a="http://schemas.openxmlformats.org/drawingml/2006/main" w="9525">
            <a:solidFill>
              <a:srgbClr val="BAE6FD"/>
            </a:solidFill>
          </a:ln>
        </p:spPr>
      </p:sp>
      <p:sp>
        <p:nvSpPr>
          <p:cNvPr id="7" name="">
            <a:extLst xmlns:a="http://schemas.openxmlformats.org/drawingml/2006/main">
              <a:ext uri="{FF2B5EF4-FFF2-40B4-BE49-F238E27FC236}">
                <a16:creationId xmlns:a16="http://schemas.microsoft.com/office/drawing/2014/main" id="{D79B3CF3-D2F8-4740-9B8B-FA56D95D8F3D}"/>
              </a:ext>
            </a:extLst>
          </p:cNvPr>
          <p:cNvSpPr>
            <a:spLocks xmlns:a="http://schemas.openxmlformats.org/drawingml/2006/main" noGrp="1"/>
          </p:cNvSpPr>
          <p:nvPr/>
        </p:nvSpPr>
        <p:spPr>
          <a:xfrm xmlns:a="http://schemas.openxmlformats.org/drawingml/2006/main">
            <a:off x="1066800" y="2057400"/>
            <a:ext cx="171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72033"/>
                </a:solidFill>
              </a:defRPr>
            </a:pPr>
            <a:r>
              <a:rPr sz="1875" b="1">
                <a:solidFill>
                  <a:srgbClr val="172033"/>
                </a:solidFill>
              </a:rPr>
              <a:t>React + Vite</a:t>
            </a:r>
          </a:p>
          <a:p xmlns:a="http://schemas.openxmlformats.org/drawingml/2006/main">
            <a:pPr algn="ctr">
              <a:defRPr sz="1875" b="1">
                <a:solidFill>
                  <a:srgbClr val="172033"/>
                </a:solidFill>
              </a:defRPr>
            </a:pPr>
            <a:r>
              <a:rPr sz="1875" b="1">
                <a:solidFill>
                  <a:srgbClr val="172033"/>
                </a:solidFill>
              </a:rPr>
              <a:t>Frontend</a:t>
            </a:r>
          </a:p>
        </p:txBody>
      </p:sp>
      <p:sp>
        <p:nvSpPr>
          <p:cNvPr id="8" name="">
            <a:extLst xmlns:a="http://schemas.openxmlformats.org/drawingml/2006/main">
              <a:ext uri="{FF2B5EF4-FFF2-40B4-BE49-F238E27FC236}">
                <a16:creationId xmlns:a16="http://schemas.microsoft.com/office/drawing/2014/main" id="{070D0720-312C-487F-8113-0F0919D933E0}"/>
              </a:ext>
            </a:extLst>
          </p:cNvPr>
          <p:cNvSpPr>
            <a:spLocks xmlns:a="http://schemas.openxmlformats.org/drawingml/2006/main" noGrp="1"/>
          </p:cNvSpPr>
          <p:nvPr/>
        </p:nvSpPr>
        <p:spPr>
          <a:xfrm xmlns:a="http://schemas.openxmlformats.org/drawingml/2006/main">
            <a:off x="3981450" y="1809750"/>
            <a:ext cx="2381250" cy="1047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9" name="">
            <a:extLst xmlns:a="http://schemas.openxmlformats.org/drawingml/2006/main">
              <a:ext uri="{FF2B5EF4-FFF2-40B4-BE49-F238E27FC236}">
                <a16:creationId xmlns:a16="http://schemas.microsoft.com/office/drawing/2014/main" id="{6652A72C-CE79-4AD3-97DA-BFCF4D4AE75A}"/>
              </a:ext>
            </a:extLst>
          </p:cNvPr>
          <p:cNvSpPr>
            <a:spLocks xmlns:a="http://schemas.openxmlformats.org/drawingml/2006/main" noGrp="1"/>
          </p:cNvSpPr>
          <p:nvPr/>
        </p:nvSpPr>
        <p:spPr>
          <a:xfrm xmlns:a="http://schemas.openxmlformats.org/drawingml/2006/main">
            <a:off x="4400550" y="2057400"/>
            <a:ext cx="15240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72033"/>
                </a:solidFill>
              </a:defRPr>
            </a:pPr>
            <a:r>
              <a:rPr sz="1875" b="1">
                <a:solidFill>
                  <a:srgbClr val="172033"/>
                </a:solidFill>
              </a:rPr>
              <a:t>FastAPI</a:t>
            </a:r>
          </a:p>
          <a:p xmlns:a="http://schemas.openxmlformats.org/drawingml/2006/main">
            <a:pPr algn="ctr">
              <a:defRPr sz="1875" b="1">
                <a:solidFill>
                  <a:srgbClr val="172033"/>
                </a:solidFill>
              </a:defRPr>
            </a:pPr>
            <a:r>
              <a:rPr sz="1875" b="1">
                <a:solidFill>
                  <a:srgbClr val="172033"/>
                </a:solidFill>
              </a:rPr>
              <a:t>Backend</a:t>
            </a:r>
          </a:p>
        </p:txBody>
      </p:sp>
      <p:sp>
        <p:nvSpPr>
          <p:cNvPr id="10" name="">
            <a:extLst xmlns:a="http://schemas.openxmlformats.org/drawingml/2006/main">
              <a:ext uri="{FF2B5EF4-FFF2-40B4-BE49-F238E27FC236}">
                <a16:creationId xmlns:a16="http://schemas.microsoft.com/office/drawing/2014/main" id="{EA623174-8287-4549-9343-F5CB9D5EEF78}"/>
              </a:ext>
            </a:extLst>
          </p:cNvPr>
          <p:cNvSpPr>
            <a:spLocks xmlns:a="http://schemas.openxmlformats.org/drawingml/2006/main" noGrp="1"/>
          </p:cNvSpPr>
          <p:nvPr/>
        </p:nvSpPr>
        <p:spPr>
          <a:xfrm xmlns:a="http://schemas.openxmlformats.org/drawingml/2006/main">
            <a:off x="7505700" y="1200150"/>
            <a:ext cx="2381250" cy="9144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C7D2FE"/>
            </a:solidFill>
          </a:ln>
        </p:spPr>
      </p:sp>
      <p:sp>
        <p:nvSpPr>
          <p:cNvPr id="11" name="">
            <a:extLst xmlns:a="http://schemas.openxmlformats.org/drawingml/2006/main">
              <a:ext uri="{FF2B5EF4-FFF2-40B4-BE49-F238E27FC236}">
                <a16:creationId xmlns:a16="http://schemas.microsoft.com/office/drawing/2014/main" id="{E8D7B7F6-B97C-4AAC-93E9-16F1CC34B904}"/>
              </a:ext>
            </a:extLst>
          </p:cNvPr>
          <p:cNvSpPr>
            <a:spLocks xmlns:a="http://schemas.openxmlformats.org/drawingml/2006/main" noGrp="1"/>
          </p:cNvSpPr>
          <p:nvPr/>
        </p:nvSpPr>
        <p:spPr>
          <a:xfrm xmlns:a="http://schemas.openxmlformats.org/drawingml/2006/main">
            <a:off x="7867650" y="1485900"/>
            <a:ext cx="16192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72033"/>
                </a:solidFill>
              </a:defRPr>
            </a:pPr>
            <a:r>
              <a:rPr sz="1875" b="1">
                <a:solidFill>
                  <a:srgbClr val="172033"/>
                </a:solidFill>
              </a:rPr>
              <a:t>Tutor Agent</a:t>
            </a:r>
          </a:p>
        </p:txBody>
      </p:sp>
      <p:sp>
        <p:nvSpPr>
          <p:cNvPr id="12" name="">
            <a:extLst xmlns:a="http://schemas.openxmlformats.org/drawingml/2006/main">
              <a:ext uri="{FF2B5EF4-FFF2-40B4-BE49-F238E27FC236}">
                <a16:creationId xmlns:a16="http://schemas.microsoft.com/office/drawing/2014/main" id="{2F60492A-79A6-4C41-8ECF-810E0B46F695}"/>
              </a:ext>
            </a:extLst>
          </p:cNvPr>
          <p:cNvSpPr>
            <a:spLocks xmlns:a="http://schemas.openxmlformats.org/drawingml/2006/main" noGrp="1"/>
          </p:cNvSpPr>
          <p:nvPr/>
        </p:nvSpPr>
        <p:spPr>
          <a:xfrm xmlns:a="http://schemas.openxmlformats.org/drawingml/2006/main">
            <a:off x="7505700" y="2571750"/>
            <a:ext cx="2381250" cy="914400"/>
          </a:xfrm>
          <a:prstGeom xmlns:a="http://schemas.openxmlformats.org/drawingml/2006/main" prst="roundRect">
            <a:avLst>
              <a:gd name="adj" fmla="val 12000"/>
            </a:avLst>
          </a:prstGeom>
          <a:solidFill xmlns:a="http://schemas.openxmlformats.org/drawingml/2006/main">
            <a:srgbClr val="DCFCE7"/>
          </a:solidFill>
          <a:ln xmlns:a="http://schemas.openxmlformats.org/drawingml/2006/main" w="9525">
            <a:solidFill>
              <a:srgbClr val="BBF7D0"/>
            </a:solidFill>
          </a:ln>
        </p:spPr>
      </p:sp>
      <p:sp>
        <p:nvSpPr>
          <p:cNvPr id="13" name="">
            <a:extLst xmlns:a="http://schemas.openxmlformats.org/drawingml/2006/main">
              <a:ext uri="{FF2B5EF4-FFF2-40B4-BE49-F238E27FC236}">
                <a16:creationId xmlns:a16="http://schemas.microsoft.com/office/drawing/2014/main" id="{4DF63E63-D51B-4F2B-993E-1B2211A9ED2C}"/>
              </a:ext>
            </a:extLst>
          </p:cNvPr>
          <p:cNvSpPr>
            <a:spLocks xmlns:a="http://schemas.openxmlformats.org/drawingml/2006/main" noGrp="1"/>
          </p:cNvSpPr>
          <p:nvPr/>
        </p:nvSpPr>
        <p:spPr>
          <a:xfrm xmlns:a="http://schemas.openxmlformats.org/drawingml/2006/main">
            <a:off x="7715250" y="2857500"/>
            <a:ext cx="19431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172033"/>
                </a:solidFill>
              </a:defRPr>
            </a:pPr>
            <a:r>
              <a:rPr sz="1875" b="1">
                <a:solidFill>
                  <a:srgbClr val="172033"/>
                </a:solidFill>
              </a:rPr>
              <a:t>Memory Manager</a:t>
            </a:r>
          </a:p>
        </p:txBody>
      </p:sp>
      <p:cxnSp>
        <p:nvCxnSpPr>
          <p:cNvPr id="14" name=""/>
          <p:cNvCxnSpPr>
            <a:stCxn xmlns:a="http://schemas.openxmlformats.org/drawingml/2006/main" id="6" idx="3"/>
            <a:endCxn xmlns:a="http://schemas.openxmlformats.org/drawingml/2006/main" id="8" idx="1"/>
          </p:cNvCxnSpPr>
          <p:nvPr/>
        </p:nvCxnSpPr>
        <p:spPr>
          <a:xfrm xmlns:a="http://schemas.openxmlformats.org/drawingml/2006/main">
            <a:off x="3124200" y="2333625"/>
            <a:ext cx="857250" cy="0"/>
          </a:xfrm>
          <a:prstGeom xmlns:a="http://schemas.openxmlformats.org/drawingml/2006/main" prst="straightConnector1">
            <a:avLst/>
          </a:prstGeom>
          <a:ln xmlns:a="http://schemas.openxmlformats.org/drawingml/2006/main" w="19050">
            <a:solidFill>
              <a:srgbClr val="06B6D4"/>
            </a:solidFill>
            <a:prstDash val="solid"/>
            <a:headEnd type="arrow" w="med" len="med"/>
          </a:ln>
        </p:spPr>
      </p:cxnSp>
      <p:cxnSp>
        <p:nvCxnSpPr>
          <p:cNvPr id="15" name=""/>
          <p:cNvCxnSpPr>
            <a:stCxn xmlns:a="http://schemas.openxmlformats.org/drawingml/2006/main" id="8" idx="3"/>
            <a:endCxn xmlns:a="http://schemas.openxmlformats.org/drawingml/2006/main" id="10" idx="1"/>
          </p:cNvCxnSpPr>
          <p:nvPr/>
        </p:nvCxnSpPr>
        <p:spPr>
          <a:xfrm xmlns:a="http://schemas.openxmlformats.org/drawingml/2006/main" flipV="1">
            <a:off x="6362700" y="1657350"/>
            <a:ext cx="1143000" cy="676275"/>
          </a:xfrm>
          <a:prstGeom xmlns:a="http://schemas.openxmlformats.org/drawingml/2006/main" prst="bentConnector3">
            <a:avLst>
              <a:gd name="adj1" fmla="val 50000"/>
            </a:avLst>
          </a:prstGeom>
          <a:ln xmlns:a="http://schemas.openxmlformats.org/drawingml/2006/main" w="19050">
            <a:solidFill>
              <a:srgbClr val="4F46E5"/>
            </a:solidFill>
            <a:prstDash val="solid"/>
            <a:headEnd type="arrow" w="med" len="med"/>
          </a:ln>
        </p:spPr>
      </p:cxnSp>
      <p:cxnSp>
        <p:nvCxnSpPr>
          <p:cNvPr id="16" name=""/>
          <p:cNvCxnSpPr>
            <a:stCxn xmlns:a="http://schemas.openxmlformats.org/drawingml/2006/main" id="8" idx="3"/>
            <a:endCxn xmlns:a="http://schemas.openxmlformats.org/drawingml/2006/main" id="12" idx="1"/>
          </p:cNvCxnSpPr>
          <p:nvPr/>
        </p:nvCxnSpPr>
        <p:spPr>
          <a:xfrm xmlns:a="http://schemas.openxmlformats.org/drawingml/2006/main">
            <a:off x="6362700" y="2333625"/>
            <a:ext cx="1143000" cy="695325"/>
          </a:xfrm>
          <a:prstGeom xmlns:a="http://schemas.openxmlformats.org/drawingml/2006/main" prst="bentConnector3">
            <a:avLst>
              <a:gd name="adj1" fmla="val 50000"/>
            </a:avLst>
          </a:prstGeom>
          <a:ln xmlns:a="http://schemas.openxmlformats.org/drawingml/2006/main" w="19050">
            <a:solidFill>
              <a:srgbClr val="10B981"/>
            </a:solidFill>
            <a:prstDash val="solid"/>
            <a:headEnd type="arrow" w="med" len="med"/>
          </a:ln>
        </p:spPr>
      </p:cxnSp>
      <p:sp>
        <p:nvSpPr>
          <p:cNvPr id="17" name="">
            <a:extLst xmlns:a="http://schemas.openxmlformats.org/drawingml/2006/main">
              <a:ext uri="{FF2B5EF4-FFF2-40B4-BE49-F238E27FC236}">
                <a16:creationId xmlns:a16="http://schemas.microsoft.com/office/drawing/2014/main" id="{1FFD144B-EBBB-4B25-8973-814234EF2B3B}"/>
              </a:ext>
            </a:extLst>
          </p:cNvPr>
          <p:cNvSpPr>
            <a:spLocks xmlns:a="http://schemas.openxmlformats.org/drawingml/2006/main" noGrp="1"/>
          </p:cNvSpPr>
          <p:nvPr/>
        </p:nvSpPr>
        <p:spPr>
          <a:xfrm xmlns:a="http://schemas.openxmlformats.org/drawingml/2006/main">
            <a:off x="1638300" y="4514850"/>
            <a:ext cx="1809750" cy="1123950"/>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18" name="">
            <a:extLst xmlns:a="http://schemas.openxmlformats.org/drawingml/2006/main">
              <a:ext uri="{FF2B5EF4-FFF2-40B4-BE49-F238E27FC236}">
                <a16:creationId xmlns:a16="http://schemas.microsoft.com/office/drawing/2014/main" id="{77D83F49-8EA2-46FB-A271-BC493829B6A0}"/>
              </a:ext>
            </a:extLst>
          </p:cNvPr>
          <p:cNvSpPr>
            <a:spLocks xmlns:a="http://schemas.openxmlformats.org/drawingml/2006/main" noGrp="1"/>
          </p:cNvSpPr>
          <p:nvPr/>
        </p:nvSpPr>
        <p:spPr>
          <a:xfrm xmlns:a="http://schemas.openxmlformats.org/drawingml/2006/main">
            <a:off x="1847850" y="4686300"/>
            <a:ext cx="1371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4F46E5"/>
                </a:solidFill>
              </a:defRPr>
            </a:pPr>
            <a:r>
              <a:rPr sz="1650" b="1">
                <a:solidFill>
                  <a:srgbClr val="4F46E5"/>
                </a:solidFill>
              </a:rPr>
              <a:t>SQLite</a:t>
            </a:r>
          </a:p>
        </p:txBody>
      </p:sp>
      <p:sp>
        <p:nvSpPr>
          <p:cNvPr id="19" name="">
            <a:extLst xmlns:a="http://schemas.openxmlformats.org/drawingml/2006/main">
              <a:ext uri="{FF2B5EF4-FFF2-40B4-BE49-F238E27FC236}">
                <a16:creationId xmlns:a16="http://schemas.microsoft.com/office/drawing/2014/main" id="{13241C69-091B-4225-BFE1-42D23424B391}"/>
              </a:ext>
            </a:extLst>
          </p:cNvPr>
          <p:cNvSpPr>
            <a:spLocks xmlns:a="http://schemas.openxmlformats.org/drawingml/2006/main" noGrp="1"/>
          </p:cNvSpPr>
          <p:nvPr/>
        </p:nvSpPr>
        <p:spPr>
          <a:xfrm xmlns:a="http://schemas.openxmlformats.org/drawingml/2006/main">
            <a:off x="1847850" y="5010150"/>
            <a:ext cx="13906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defRPr>
            </a:pPr>
            <a:r>
              <a:rPr sz="1200" b="0">
                <a:solidFill>
                  <a:srgbClr val="64748B"/>
                </a:solidFill>
              </a:rPr>
              <a:t>users, sessions,</a:t>
            </a:r>
          </a:p>
          <a:p xmlns:a="http://schemas.openxmlformats.org/drawingml/2006/main">
            <a:pPr algn="ctr">
              <a:defRPr sz="1200" b="0">
                <a:solidFill>
                  <a:srgbClr val="64748B"/>
                </a:solidFill>
              </a:defRPr>
            </a:pPr>
            <a:r>
              <a:rPr sz="1200" b="0">
                <a:solidFill>
                  <a:srgbClr val="64748B"/>
                </a:solidFill>
              </a:rPr>
              <a:t>messages, profiles</a:t>
            </a:r>
          </a:p>
        </p:txBody>
      </p:sp>
      <p:sp>
        <p:nvSpPr>
          <p:cNvPr id="20" name="">
            <a:extLst xmlns:a="http://schemas.openxmlformats.org/drawingml/2006/main">
              <a:ext uri="{FF2B5EF4-FFF2-40B4-BE49-F238E27FC236}">
                <a16:creationId xmlns:a16="http://schemas.microsoft.com/office/drawing/2014/main" id="{E18A24EF-0B6E-4C18-9423-3915FE355DE6}"/>
              </a:ext>
            </a:extLst>
          </p:cNvPr>
          <p:cNvSpPr>
            <a:spLocks xmlns:a="http://schemas.openxmlformats.org/drawingml/2006/main" noGrp="1"/>
          </p:cNvSpPr>
          <p:nvPr/>
        </p:nvSpPr>
        <p:spPr>
          <a:xfrm xmlns:a="http://schemas.openxmlformats.org/drawingml/2006/main">
            <a:off x="4191000" y="4514850"/>
            <a:ext cx="1809750" cy="1123950"/>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21" name="">
            <a:extLst xmlns:a="http://schemas.openxmlformats.org/drawingml/2006/main">
              <a:ext uri="{FF2B5EF4-FFF2-40B4-BE49-F238E27FC236}">
                <a16:creationId xmlns:a16="http://schemas.microsoft.com/office/drawing/2014/main" id="{4EEA3E15-8452-4166-BCCF-534FC23C7938}"/>
              </a:ext>
            </a:extLst>
          </p:cNvPr>
          <p:cNvSpPr>
            <a:spLocks xmlns:a="http://schemas.openxmlformats.org/drawingml/2006/main" noGrp="1"/>
          </p:cNvSpPr>
          <p:nvPr/>
        </p:nvSpPr>
        <p:spPr>
          <a:xfrm xmlns:a="http://schemas.openxmlformats.org/drawingml/2006/main">
            <a:off x="4400550" y="4686300"/>
            <a:ext cx="1371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B981"/>
                </a:solidFill>
              </a:defRPr>
            </a:pPr>
            <a:r>
              <a:rPr sz="1650" b="1">
                <a:solidFill>
                  <a:srgbClr val="10B981"/>
                </a:solidFill>
              </a:rPr>
              <a:t>ChromaDB</a:t>
            </a:r>
          </a:p>
        </p:txBody>
      </p:sp>
      <p:sp>
        <p:nvSpPr>
          <p:cNvPr id="22" name="">
            <a:extLst xmlns:a="http://schemas.openxmlformats.org/drawingml/2006/main">
              <a:ext uri="{FF2B5EF4-FFF2-40B4-BE49-F238E27FC236}">
                <a16:creationId xmlns:a16="http://schemas.microsoft.com/office/drawing/2014/main" id="{579D94A2-1F03-40E2-9CAA-46A3E3DE5D8D}"/>
              </a:ext>
            </a:extLst>
          </p:cNvPr>
          <p:cNvSpPr>
            <a:spLocks xmlns:a="http://schemas.openxmlformats.org/drawingml/2006/main" noGrp="1"/>
          </p:cNvSpPr>
          <p:nvPr/>
        </p:nvSpPr>
        <p:spPr>
          <a:xfrm xmlns:a="http://schemas.openxmlformats.org/drawingml/2006/main">
            <a:off x="4400550" y="5010150"/>
            <a:ext cx="13906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defRPr>
            </a:pPr>
            <a:r>
              <a:rPr sz="1200" b="0">
                <a:solidFill>
                  <a:srgbClr val="64748B"/>
                </a:solidFill>
              </a:rPr>
              <a:t>episodic vector</a:t>
            </a:r>
          </a:p>
          <a:p xmlns:a="http://schemas.openxmlformats.org/drawingml/2006/main">
            <a:pPr algn="ctr">
              <a:defRPr sz="1200" b="0">
                <a:solidFill>
                  <a:srgbClr val="64748B"/>
                </a:solidFill>
              </a:defRPr>
            </a:pPr>
            <a:r>
              <a:rPr sz="1200" b="0">
                <a:solidFill>
                  <a:srgbClr val="64748B"/>
                </a:solidFill>
              </a:rPr>
              <a:t>memory retrieval</a:t>
            </a:r>
          </a:p>
        </p:txBody>
      </p:sp>
      <p:sp>
        <p:nvSpPr>
          <p:cNvPr id="23" name="">
            <a:extLst xmlns:a="http://schemas.openxmlformats.org/drawingml/2006/main">
              <a:ext uri="{FF2B5EF4-FFF2-40B4-BE49-F238E27FC236}">
                <a16:creationId xmlns:a16="http://schemas.microsoft.com/office/drawing/2014/main" id="{19DF564C-57D6-45A8-9C81-18E36344FE57}"/>
              </a:ext>
            </a:extLst>
          </p:cNvPr>
          <p:cNvSpPr>
            <a:spLocks xmlns:a="http://schemas.openxmlformats.org/drawingml/2006/main" noGrp="1"/>
          </p:cNvSpPr>
          <p:nvPr/>
        </p:nvSpPr>
        <p:spPr>
          <a:xfrm xmlns:a="http://schemas.openxmlformats.org/drawingml/2006/main">
            <a:off x="6743700" y="4514850"/>
            <a:ext cx="1809750" cy="1123950"/>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24" name="">
            <a:extLst xmlns:a="http://schemas.openxmlformats.org/drawingml/2006/main">
              <a:ext uri="{FF2B5EF4-FFF2-40B4-BE49-F238E27FC236}">
                <a16:creationId xmlns:a16="http://schemas.microsoft.com/office/drawing/2014/main" id="{9D01DF02-7F71-42B5-B31D-161A9EA13908}"/>
              </a:ext>
            </a:extLst>
          </p:cNvPr>
          <p:cNvSpPr>
            <a:spLocks xmlns:a="http://schemas.openxmlformats.org/drawingml/2006/main" noGrp="1"/>
          </p:cNvSpPr>
          <p:nvPr/>
        </p:nvSpPr>
        <p:spPr>
          <a:xfrm xmlns:a="http://schemas.openxmlformats.org/drawingml/2006/main">
            <a:off x="6953250" y="4686300"/>
            <a:ext cx="1371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7C3AED"/>
                </a:solidFill>
              </a:defRPr>
            </a:pPr>
            <a:r>
              <a:rPr sz="1650" b="1">
                <a:solidFill>
                  <a:srgbClr val="7C3AED"/>
                </a:solidFill>
              </a:rPr>
              <a:t>Profile JSON</a:t>
            </a:r>
          </a:p>
        </p:txBody>
      </p:sp>
      <p:sp>
        <p:nvSpPr>
          <p:cNvPr id="25" name="">
            <a:extLst xmlns:a="http://schemas.openxmlformats.org/drawingml/2006/main">
              <a:ext uri="{FF2B5EF4-FFF2-40B4-BE49-F238E27FC236}">
                <a16:creationId xmlns:a16="http://schemas.microsoft.com/office/drawing/2014/main" id="{95E47ABD-124D-4B6C-B401-B76D2DA755BE}"/>
              </a:ext>
            </a:extLst>
          </p:cNvPr>
          <p:cNvSpPr>
            <a:spLocks xmlns:a="http://schemas.openxmlformats.org/drawingml/2006/main" noGrp="1"/>
          </p:cNvSpPr>
          <p:nvPr/>
        </p:nvSpPr>
        <p:spPr>
          <a:xfrm xmlns:a="http://schemas.openxmlformats.org/drawingml/2006/main">
            <a:off x="6953250" y="5010150"/>
            <a:ext cx="13906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defRPr>
            </a:pPr>
            <a:r>
              <a:rPr sz="1200" b="0">
                <a:solidFill>
                  <a:srgbClr val="64748B"/>
                </a:solidFill>
              </a:rPr>
              <a:t>preferences, goals,</a:t>
            </a:r>
          </a:p>
          <a:p xmlns:a="http://schemas.openxmlformats.org/drawingml/2006/main">
            <a:pPr algn="ctr">
              <a:defRPr sz="1200" b="0">
                <a:solidFill>
                  <a:srgbClr val="64748B"/>
                </a:solidFill>
              </a:defRPr>
            </a:pPr>
            <a:r>
              <a:rPr sz="1200" b="0">
                <a:solidFill>
                  <a:srgbClr val="64748B"/>
                </a:solidFill>
              </a:rPr>
              <a:t>mastery, weak areas</a:t>
            </a:r>
          </a:p>
        </p:txBody>
      </p:sp>
      <p:sp>
        <p:nvSpPr>
          <p:cNvPr id="26" name="">
            <a:extLst xmlns:a="http://schemas.openxmlformats.org/drawingml/2006/main">
              <a:ext uri="{FF2B5EF4-FFF2-40B4-BE49-F238E27FC236}">
                <a16:creationId xmlns:a16="http://schemas.microsoft.com/office/drawing/2014/main" id="{9D6BBD21-1AA1-4853-8C79-2FB5F3AE142F}"/>
              </a:ext>
            </a:extLst>
          </p:cNvPr>
          <p:cNvSpPr>
            <a:spLocks xmlns:a="http://schemas.openxmlformats.org/drawingml/2006/main" noGrp="1"/>
          </p:cNvSpPr>
          <p:nvPr/>
        </p:nvSpPr>
        <p:spPr>
          <a:xfrm xmlns:a="http://schemas.openxmlformats.org/drawingml/2006/main">
            <a:off x="9296400" y="4514850"/>
            <a:ext cx="1809750" cy="1123950"/>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27" name="">
            <a:extLst xmlns:a="http://schemas.openxmlformats.org/drawingml/2006/main">
              <a:ext uri="{FF2B5EF4-FFF2-40B4-BE49-F238E27FC236}">
                <a16:creationId xmlns:a16="http://schemas.microsoft.com/office/drawing/2014/main" id="{EDD50070-6F7C-424D-BFC7-3669F50B6D5F}"/>
              </a:ext>
            </a:extLst>
          </p:cNvPr>
          <p:cNvSpPr>
            <a:spLocks xmlns:a="http://schemas.openxmlformats.org/drawingml/2006/main" noGrp="1"/>
          </p:cNvSpPr>
          <p:nvPr/>
        </p:nvSpPr>
        <p:spPr>
          <a:xfrm xmlns:a="http://schemas.openxmlformats.org/drawingml/2006/main">
            <a:off x="9505950" y="4686300"/>
            <a:ext cx="1371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59E0B"/>
                </a:solidFill>
              </a:defRPr>
            </a:pPr>
            <a:r>
              <a:rPr sz="1650" b="1">
                <a:solidFill>
                  <a:srgbClr val="F59E0B"/>
                </a:solidFill>
              </a:rPr>
              <a:t>LoRA Path</a:t>
            </a:r>
          </a:p>
        </p:txBody>
      </p:sp>
      <p:sp>
        <p:nvSpPr>
          <p:cNvPr id="28" name="">
            <a:extLst xmlns:a="http://schemas.openxmlformats.org/drawingml/2006/main">
              <a:ext uri="{FF2B5EF4-FFF2-40B4-BE49-F238E27FC236}">
                <a16:creationId xmlns:a16="http://schemas.microsoft.com/office/drawing/2014/main" id="{10F972CB-9C62-4EBF-AD5D-08ADF1E21CE7}"/>
              </a:ext>
            </a:extLst>
          </p:cNvPr>
          <p:cNvSpPr>
            <a:spLocks xmlns:a="http://schemas.openxmlformats.org/drawingml/2006/main" noGrp="1"/>
          </p:cNvSpPr>
          <p:nvPr/>
        </p:nvSpPr>
        <p:spPr>
          <a:xfrm xmlns:a="http://schemas.openxmlformats.org/drawingml/2006/main">
            <a:off x="9505950" y="5010150"/>
            <a:ext cx="1390650" cy="4572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4748B"/>
                </a:solidFill>
              </a:defRPr>
            </a:pPr>
            <a:r>
              <a:rPr sz="1200" b="0">
                <a:solidFill>
                  <a:srgbClr val="64748B"/>
                </a:solidFill>
              </a:rPr>
              <a:t>simulated adapter</a:t>
            </a:r>
          </a:p>
          <a:p xmlns:a="http://schemas.openxmlformats.org/drawingml/2006/main">
            <a:pPr algn="ctr">
              <a:defRPr sz="1200" b="0">
                <a:solidFill>
                  <a:srgbClr val="64748B"/>
                </a:solidFill>
              </a:defRPr>
            </a:pPr>
            <a:r>
              <a:rPr sz="1200" b="0">
                <a:solidFill>
                  <a:srgbClr val="64748B"/>
                </a:solidFill>
              </a:rPr>
              <a:t>personalization</a:t>
            </a:r>
          </a:p>
        </p:txBody>
      </p:sp>
    </p:spTree>
    <p:extLst>
      <p:ext uri="{BB962C8B-B14F-4D97-AF65-F5344CB8AC3E}">
        <p14:creationId xmlns:p14="http://schemas.microsoft.com/office/powerpoint/2010/main" val="1125799638"/>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CFABF62-5460-449C-8233-351BA1D2190D}"/>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C5035801-8AE5-4B57-A2AB-BE9CEB72858D}"/>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3D4AB590-FAC3-4D9D-A5A7-79C54CD42E96}"/>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HOW A TUTOR TURN WORKS</a:t>
            </a:r>
          </a:p>
        </p:txBody>
      </p:sp>
      <p:sp>
        <p:nvSpPr>
          <p:cNvPr id="5" name="">
            <a:extLst xmlns:a="http://schemas.openxmlformats.org/drawingml/2006/main">
              <a:ext uri="{FF2B5EF4-FFF2-40B4-BE49-F238E27FC236}">
                <a16:creationId xmlns:a16="http://schemas.microsoft.com/office/drawing/2014/main" id="{FA119974-8D68-48E6-95F1-284F785AF77F}"/>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End-to-End Memory Flow</a:t>
            </a:r>
          </a:p>
        </p:txBody>
      </p:sp>
      <p:sp>
        <p:nvSpPr>
          <p:cNvPr id="6" name="">
            <a:extLst xmlns:a="http://schemas.openxmlformats.org/drawingml/2006/main">
              <a:ext uri="{FF2B5EF4-FFF2-40B4-BE49-F238E27FC236}">
                <a16:creationId xmlns:a16="http://schemas.microsoft.com/office/drawing/2014/main" id="{54BA1E30-70B1-4EE1-8E48-5A9652D529BB}"/>
              </a:ext>
            </a:extLst>
          </p:cNvPr>
          <p:cNvSpPr>
            <a:spLocks xmlns:a="http://schemas.openxmlformats.org/drawingml/2006/main" noGrp="1"/>
          </p:cNvSpPr>
          <p:nvPr/>
        </p:nvSpPr>
        <p:spPr>
          <a:xfrm xmlns:a="http://schemas.openxmlformats.org/drawingml/2006/main">
            <a:off x="666750" y="1752600"/>
            <a:ext cx="2952750" cy="1238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C08EFB46-04CE-45B2-8D64-08FE48F96847}"/>
              </a:ext>
            </a:extLst>
          </p:cNvPr>
          <p:cNvSpPr>
            <a:spLocks xmlns:a="http://schemas.openxmlformats.org/drawingml/2006/main" noGrp="1"/>
          </p:cNvSpPr>
          <p:nvPr/>
        </p:nvSpPr>
        <p:spPr>
          <a:xfrm xmlns:a="http://schemas.openxmlformats.org/drawingml/2006/main">
            <a:off x="876300" y="203835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8" name="">
            <a:extLst xmlns:a="http://schemas.openxmlformats.org/drawingml/2006/main">
              <a:ext uri="{FF2B5EF4-FFF2-40B4-BE49-F238E27FC236}">
                <a16:creationId xmlns:a16="http://schemas.microsoft.com/office/drawing/2014/main" id="{75BA16AA-AFDB-45F4-992D-F73F92453BB4}"/>
              </a:ext>
            </a:extLst>
          </p:cNvPr>
          <p:cNvSpPr>
            <a:spLocks xmlns:a="http://schemas.openxmlformats.org/drawingml/2006/main" noGrp="1"/>
          </p:cNvSpPr>
          <p:nvPr/>
        </p:nvSpPr>
        <p:spPr>
          <a:xfrm xmlns:a="http://schemas.openxmlformats.org/drawingml/2006/main">
            <a:off x="1028700" y="215265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1</a:t>
            </a:r>
          </a:p>
        </p:txBody>
      </p:sp>
      <p:sp>
        <p:nvSpPr>
          <p:cNvPr id="9" name="">
            <a:extLst xmlns:a="http://schemas.openxmlformats.org/drawingml/2006/main">
              <a:ext uri="{FF2B5EF4-FFF2-40B4-BE49-F238E27FC236}">
                <a16:creationId xmlns:a16="http://schemas.microsoft.com/office/drawing/2014/main" id="{C40E7191-8D35-428D-9B14-2805F3E94CB8}"/>
              </a:ext>
            </a:extLst>
          </p:cNvPr>
          <p:cNvSpPr>
            <a:spLocks xmlns:a="http://schemas.openxmlformats.org/drawingml/2006/main" noGrp="1"/>
          </p:cNvSpPr>
          <p:nvPr/>
        </p:nvSpPr>
        <p:spPr>
          <a:xfrm xmlns:a="http://schemas.openxmlformats.org/drawingml/2006/main">
            <a:off x="1543050" y="201930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Student asks</a:t>
            </a:r>
          </a:p>
        </p:txBody>
      </p:sp>
      <p:sp>
        <p:nvSpPr>
          <p:cNvPr id="10" name="">
            <a:extLst xmlns:a="http://schemas.openxmlformats.org/drawingml/2006/main">
              <a:ext uri="{FF2B5EF4-FFF2-40B4-BE49-F238E27FC236}">
                <a16:creationId xmlns:a16="http://schemas.microsoft.com/office/drawing/2014/main" id="{1F1A6A8D-12E3-41CC-8FF6-E6109CB9FA28}"/>
              </a:ext>
            </a:extLst>
          </p:cNvPr>
          <p:cNvSpPr>
            <a:spLocks xmlns:a="http://schemas.openxmlformats.org/drawingml/2006/main" noGrp="1"/>
          </p:cNvSpPr>
          <p:nvPr/>
        </p:nvSpPr>
        <p:spPr>
          <a:xfrm xmlns:a="http://schemas.openxmlformats.org/drawingml/2006/main">
            <a:off x="1543050" y="238125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message + topic</a:t>
            </a:r>
          </a:p>
        </p:txBody>
      </p:sp>
      <p:sp>
        <p:nvSpPr>
          <p:cNvPr id="11" name="">
            <a:extLst xmlns:a="http://schemas.openxmlformats.org/drawingml/2006/main">
              <a:ext uri="{FF2B5EF4-FFF2-40B4-BE49-F238E27FC236}">
                <a16:creationId xmlns:a16="http://schemas.microsoft.com/office/drawing/2014/main" id="{8665776B-4EF3-4794-8AD0-2735072336D6}"/>
              </a:ext>
            </a:extLst>
          </p:cNvPr>
          <p:cNvSpPr>
            <a:spLocks xmlns:a="http://schemas.openxmlformats.org/drawingml/2006/main" noGrp="1"/>
          </p:cNvSpPr>
          <p:nvPr/>
        </p:nvSpPr>
        <p:spPr>
          <a:xfrm xmlns:a="http://schemas.openxmlformats.org/drawingml/2006/main">
            <a:off x="4381500" y="1752600"/>
            <a:ext cx="2952750" cy="1238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12" name="">
            <a:extLst xmlns:a="http://schemas.openxmlformats.org/drawingml/2006/main">
              <a:ext uri="{FF2B5EF4-FFF2-40B4-BE49-F238E27FC236}">
                <a16:creationId xmlns:a16="http://schemas.microsoft.com/office/drawing/2014/main" id="{7643A814-C89F-4FE8-8955-C2B4A69B3D40}"/>
              </a:ext>
            </a:extLst>
          </p:cNvPr>
          <p:cNvSpPr>
            <a:spLocks xmlns:a="http://schemas.openxmlformats.org/drawingml/2006/main" noGrp="1"/>
          </p:cNvSpPr>
          <p:nvPr/>
        </p:nvSpPr>
        <p:spPr>
          <a:xfrm xmlns:a="http://schemas.openxmlformats.org/drawingml/2006/main">
            <a:off x="4591050" y="203835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3" name="">
            <a:extLst xmlns:a="http://schemas.openxmlformats.org/drawingml/2006/main">
              <a:ext uri="{FF2B5EF4-FFF2-40B4-BE49-F238E27FC236}">
                <a16:creationId xmlns:a16="http://schemas.microsoft.com/office/drawing/2014/main" id="{AA856FBD-C560-4D58-9D90-CCC152B152C8}"/>
              </a:ext>
            </a:extLst>
          </p:cNvPr>
          <p:cNvSpPr>
            <a:spLocks xmlns:a="http://schemas.openxmlformats.org/drawingml/2006/main" noGrp="1"/>
          </p:cNvSpPr>
          <p:nvPr/>
        </p:nvSpPr>
        <p:spPr>
          <a:xfrm xmlns:a="http://schemas.openxmlformats.org/drawingml/2006/main">
            <a:off x="4743450" y="215265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2</a:t>
            </a:r>
          </a:p>
        </p:txBody>
      </p:sp>
      <p:sp>
        <p:nvSpPr>
          <p:cNvPr id="14" name="">
            <a:extLst xmlns:a="http://schemas.openxmlformats.org/drawingml/2006/main">
              <a:ext uri="{FF2B5EF4-FFF2-40B4-BE49-F238E27FC236}">
                <a16:creationId xmlns:a16="http://schemas.microsoft.com/office/drawing/2014/main" id="{1751ABD5-232E-4C4F-8FEE-D292E9B4CB76}"/>
              </a:ext>
            </a:extLst>
          </p:cNvPr>
          <p:cNvSpPr>
            <a:spLocks xmlns:a="http://schemas.openxmlformats.org/drawingml/2006/main" noGrp="1"/>
          </p:cNvSpPr>
          <p:nvPr/>
        </p:nvSpPr>
        <p:spPr>
          <a:xfrm xmlns:a="http://schemas.openxmlformats.org/drawingml/2006/main">
            <a:off x="5257800" y="201930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Retrieve</a:t>
            </a:r>
          </a:p>
        </p:txBody>
      </p:sp>
      <p:sp>
        <p:nvSpPr>
          <p:cNvPr id="15" name="">
            <a:extLst xmlns:a="http://schemas.openxmlformats.org/drawingml/2006/main">
              <a:ext uri="{FF2B5EF4-FFF2-40B4-BE49-F238E27FC236}">
                <a16:creationId xmlns:a16="http://schemas.microsoft.com/office/drawing/2014/main" id="{A9A35548-0F8B-4872-B904-890677E49B52}"/>
              </a:ext>
            </a:extLst>
          </p:cNvPr>
          <p:cNvSpPr>
            <a:spLocks xmlns:a="http://schemas.openxmlformats.org/drawingml/2006/main" noGrp="1"/>
          </p:cNvSpPr>
          <p:nvPr/>
        </p:nvSpPr>
        <p:spPr>
          <a:xfrm xmlns:a="http://schemas.openxmlformats.org/drawingml/2006/main">
            <a:off x="5257800" y="238125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top-k memories</a:t>
            </a:r>
          </a:p>
        </p:txBody>
      </p:sp>
      <p:sp>
        <p:nvSpPr>
          <p:cNvPr id="16" name="">
            <a:extLst xmlns:a="http://schemas.openxmlformats.org/drawingml/2006/main">
              <a:ext uri="{FF2B5EF4-FFF2-40B4-BE49-F238E27FC236}">
                <a16:creationId xmlns:a16="http://schemas.microsoft.com/office/drawing/2014/main" id="{89CB3ED2-D186-421C-A706-6F76D09082C7}"/>
              </a:ext>
            </a:extLst>
          </p:cNvPr>
          <p:cNvSpPr>
            <a:spLocks xmlns:a="http://schemas.openxmlformats.org/drawingml/2006/main" noGrp="1"/>
          </p:cNvSpPr>
          <p:nvPr/>
        </p:nvSpPr>
        <p:spPr>
          <a:xfrm xmlns:a="http://schemas.openxmlformats.org/drawingml/2006/main">
            <a:off x="8096250" y="1752600"/>
            <a:ext cx="2952750" cy="1238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17" name="">
            <a:extLst xmlns:a="http://schemas.openxmlformats.org/drawingml/2006/main">
              <a:ext uri="{FF2B5EF4-FFF2-40B4-BE49-F238E27FC236}">
                <a16:creationId xmlns:a16="http://schemas.microsoft.com/office/drawing/2014/main" id="{64C92221-D27D-45CF-8681-16B4A826DF7C}"/>
              </a:ext>
            </a:extLst>
          </p:cNvPr>
          <p:cNvSpPr>
            <a:spLocks xmlns:a="http://schemas.openxmlformats.org/drawingml/2006/main" noGrp="1"/>
          </p:cNvSpPr>
          <p:nvPr/>
        </p:nvSpPr>
        <p:spPr>
          <a:xfrm xmlns:a="http://schemas.openxmlformats.org/drawingml/2006/main">
            <a:off x="8305800" y="203835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8" name="">
            <a:extLst xmlns:a="http://schemas.openxmlformats.org/drawingml/2006/main">
              <a:ext uri="{FF2B5EF4-FFF2-40B4-BE49-F238E27FC236}">
                <a16:creationId xmlns:a16="http://schemas.microsoft.com/office/drawing/2014/main" id="{5AAFC3F0-7D03-4149-927E-45F740461A7C}"/>
              </a:ext>
            </a:extLst>
          </p:cNvPr>
          <p:cNvSpPr>
            <a:spLocks xmlns:a="http://schemas.openxmlformats.org/drawingml/2006/main" noGrp="1"/>
          </p:cNvSpPr>
          <p:nvPr/>
        </p:nvSpPr>
        <p:spPr>
          <a:xfrm xmlns:a="http://schemas.openxmlformats.org/drawingml/2006/main">
            <a:off x="8458200" y="215265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3</a:t>
            </a:r>
          </a:p>
        </p:txBody>
      </p:sp>
      <p:sp>
        <p:nvSpPr>
          <p:cNvPr id="19" name="">
            <a:extLst xmlns:a="http://schemas.openxmlformats.org/drawingml/2006/main">
              <a:ext uri="{FF2B5EF4-FFF2-40B4-BE49-F238E27FC236}">
                <a16:creationId xmlns:a16="http://schemas.microsoft.com/office/drawing/2014/main" id="{B7E6C7A7-9DFE-46B7-8F22-B56E7EC46404}"/>
              </a:ext>
            </a:extLst>
          </p:cNvPr>
          <p:cNvSpPr>
            <a:spLocks xmlns:a="http://schemas.openxmlformats.org/drawingml/2006/main" noGrp="1"/>
          </p:cNvSpPr>
          <p:nvPr/>
        </p:nvSpPr>
        <p:spPr>
          <a:xfrm xmlns:a="http://schemas.openxmlformats.org/drawingml/2006/main">
            <a:off x="8972550" y="201930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Tutor responds</a:t>
            </a:r>
          </a:p>
        </p:txBody>
      </p:sp>
      <p:sp>
        <p:nvSpPr>
          <p:cNvPr id="20" name="">
            <a:extLst xmlns:a="http://schemas.openxmlformats.org/drawingml/2006/main">
              <a:ext uri="{FF2B5EF4-FFF2-40B4-BE49-F238E27FC236}">
                <a16:creationId xmlns:a16="http://schemas.microsoft.com/office/drawing/2014/main" id="{0754AF3E-28CD-4A08-B223-A67E8B539BF5}"/>
              </a:ext>
            </a:extLst>
          </p:cNvPr>
          <p:cNvSpPr>
            <a:spLocks xmlns:a="http://schemas.openxmlformats.org/drawingml/2006/main" noGrp="1"/>
          </p:cNvSpPr>
          <p:nvPr/>
        </p:nvSpPr>
        <p:spPr>
          <a:xfrm xmlns:a="http://schemas.openxmlformats.org/drawingml/2006/main">
            <a:off x="8972550" y="238125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scaffolded hints</a:t>
            </a:r>
          </a:p>
        </p:txBody>
      </p:sp>
      <p:sp>
        <p:nvSpPr>
          <p:cNvPr id="21" name="">
            <a:extLst xmlns:a="http://schemas.openxmlformats.org/drawingml/2006/main">
              <a:ext uri="{FF2B5EF4-FFF2-40B4-BE49-F238E27FC236}">
                <a16:creationId xmlns:a16="http://schemas.microsoft.com/office/drawing/2014/main" id="{624A3237-7599-4E9D-9A07-0B66FAF2A88D}"/>
              </a:ext>
            </a:extLst>
          </p:cNvPr>
          <p:cNvSpPr>
            <a:spLocks xmlns:a="http://schemas.openxmlformats.org/drawingml/2006/main" noGrp="1"/>
          </p:cNvSpPr>
          <p:nvPr/>
        </p:nvSpPr>
        <p:spPr>
          <a:xfrm xmlns:a="http://schemas.openxmlformats.org/drawingml/2006/main">
            <a:off x="666750" y="3562350"/>
            <a:ext cx="2952750" cy="1238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22" name="">
            <a:extLst xmlns:a="http://schemas.openxmlformats.org/drawingml/2006/main">
              <a:ext uri="{FF2B5EF4-FFF2-40B4-BE49-F238E27FC236}">
                <a16:creationId xmlns:a16="http://schemas.microsoft.com/office/drawing/2014/main" id="{A33BEDB5-3C49-4B94-9B34-6503904FA88D}"/>
              </a:ext>
            </a:extLst>
          </p:cNvPr>
          <p:cNvSpPr>
            <a:spLocks xmlns:a="http://schemas.openxmlformats.org/drawingml/2006/main" noGrp="1"/>
          </p:cNvSpPr>
          <p:nvPr/>
        </p:nvSpPr>
        <p:spPr>
          <a:xfrm xmlns:a="http://schemas.openxmlformats.org/drawingml/2006/main">
            <a:off x="876300" y="384810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23" name="">
            <a:extLst xmlns:a="http://schemas.openxmlformats.org/drawingml/2006/main">
              <a:ext uri="{FF2B5EF4-FFF2-40B4-BE49-F238E27FC236}">
                <a16:creationId xmlns:a16="http://schemas.microsoft.com/office/drawing/2014/main" id="{B2D65EF2-4887-4091-97E1-AC2B551299C6}"/>
              </a:ext>
            </a:extLst>
          </p:cNvPr>
          <p:cNvSpPr>
            <a:spLocks xmlns:a="http://schemas.openxmlformats.org/drawingml/2006/main" noGrp="1"/>
          </p:cNvSpPr>
          <p:nvPr/>
        </p:nvSpPr>
        <p:spPr>
          <a:xfrm xmlns:a="http://schemas.openxmlformats.org/drawingml/2006/main">
            <a:off x="1028700" y="396240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4</a:t>
            </a:r>
          </a:p>
        </p:txBody>
      </p:sp>
      <p:sp>
        <p:nvSpPr>
          <p:cNvPr id="24" name="">
            <a:extLst xmlns:a="http://schemas.openxmlformats.org/drawingml/2006/main">
              <a:ext uri="{FF2B5EF4-FFF2-40B4-BE49-F238E27FC236}">
                <a16:creationId xmlns:a16="http://schemas.microsoft.com/office/drawing/2014/main" id="{8B44A613-6F0C-4E38-9460-EC9DDDF753F6}"/>
              </a:ext>
            </a:extLst>
          </p:cNvPr>
          <p:cNvSpPr>
            <a:spLocks xmlns:a="http://schemas.openxmlformats.org/drawingml/2006/main" noGrp="1"/>
          </p:cNvSpPr>
          <p:nvPr/>
        </p:nvSpPr>
        <p:spPr>
          <a:xfrm xmlns:a="http://schemas.openxmlformats.org/drawingml/2006/main">
            <a:off x="1543050" y="38290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Extract facts</a:t>
            </a:r>
          </a:p>
        </p:txBody>
      </p:sp>
      <p:sp>
        <p:nvSpPr>
          <p:cNvPr id="25" name="">
            <a:extLst xmlns:a="http://schemas.openxmlformats.org/drawingml/2006/main">
              <a:ext uri="{FF2B5EF4-FFF2-40B4-BE49-F238E27FC236}">
                <a16:creationId xmlns:a16="http://schemas.microsoft.com/office/drawing/2014/main" id="{11679816-BBAC-4C0D-9D8A-ABC767A35724}"/>
              </a:ext>
            </a:extLst>
          </p:cNvPr>
          <p:cNvSpPr>
            <a:spLocks xmlns:a="http://schemas.openxmlformats.org/drawingml/2006/main" noGrp="1"/>
          </p:cNvSpPr>
          <p:nvPr/>
        </p:nvSpPr>
        <p:spPr>
          <a:xfrm xmlns:a="http://schemas.openxmlformats.org/drawingml/2006/main">
            <a:off x="1543050" y="419100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rule heuristics</a:t>
            </a:r>
          </a:p>
        </p:txBody>
      </p:sp>
      <p:sp>
        <p:nvSpPr>
          <p:cNvPr id="26" name="">
            <a:extLst xmlns:a="http://schemas.openxmlformats.org/drawingml/2006/main">
              <a:ext uri="{FF2B5EF4-FFF2-40B4-BE49-F238E27FC236}">
                <a16:creationId xmlns:a16="http://schemas.microsoft.com/office/drawing/2014/main" id="{451CBAE4-68D7-4A95-B191-8310BD32CDCB}"/>
              </a:ext>
            </a:extLst>
          </p:cNvPr>
          <p:cNvSpPr>
            <a:spLocks xmlns:a="http://schemas.openxmlformats.org/drawingml/2006/main" noGrp="1"/>
          </p:cNvSpPr>
          <p:nvPr/>
        </p:nvSpPr>
        <p:spPr>
          <a:xfrm xmlns:a="http://schemas.openxmlformats.org/drawingml/2006/main">
            <a:off x="4381500" y="3562350"/>
            <a:ext cx="2952750" cy="1238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27" name="">
            <a:extLst xmlns:a="http://schemas.openxmlformats.org/drawingml/2006/main">
              <a:ext uri="{FF2B5EF4-FFF2-40B4-BE49-F238E27FC236}">
                <a16:creationId xmlns:a16="http://schemas.microsoft.com/office/drawing/2014/main" id="{536A79CB-F438-45A8-BBB2-B5DD105234D8}"/>
              </a:ext>
            </a:extLst>
          </p:cNvPr>
          <p:cNvSpPr>
            <a:spLocks xmlns:a="http://schemas.openxmlformats.org/drawingml/2006/main" noGrp="1"/>
          </p:cNvSpPr>
          <p:nvPr/>
        </p:nvSpPr>
        <p:spPr>
          <a:xfrm xmlns:a="http://schemas.openxmlformats.org/drawingml/2006/main">
            <a:off x="4591050" y="384810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28" name="">
            <a:extLst xmlns:a="http://schemas.openxmlformats.org/drawingml/2006/main">
              <a:ext uri="{FF2B5EF4-FFF2-40B4-BE49-F238E27FC236}">
                <a16:creationId xmlns:a16="http://schemas.microsoft.com/office/drawing/2014/main" id="{9ECB0312-B2B3-49F3-BCB7-3D21DAF348A9}"/>
              </a:ext>
            </a:extLst>
          </p:cNvPr>
          <p:cNvSpPr>
            <a:spLocks xmlns:a="http://schemas.openxmlformats.org/drawingml/2006/main" noGrp="1"/>
          </p:cNvSpPr>
          <p:nvPr/>
        </p:nvSpPr>
        <p:spPr>
          <a:xfrm xmlns:a="http://schemas.openxmlformats.org/drawingml/2006/main">
            <a:off x="4743450" y="396240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5</a:t>
            </a:r>
          </a:p>
        </p:txBody>
      </p:sp>
      <p:sp>
        <p:nvSpPr>
          <p:cNvPr id="29" name="">
            <a:extLst xmlns:a="http://schemas.openxmlformats.org/drawingml/2006/main">
              <a:ext uri="{FF2B5EF4-FFF2-40B4-BE49-F238E27FC236}">
                <a16:creationId xmlns:a16="http://schemas.microsoft.com/office/drawing/2014/main" id="{D7640845-1B17-4547-B2E3-895815B9AF2A}"/>
              </a:ext>
            </a:extLst>
          </p:cNvPr>
          <p:cNvSpPr>
            <a:spLocks xmlns:a="http://schemas.openxmlformats.org/drawingml/2006/main" noGrp="1"/>
          </p:cNvSpPr>
          <p:nvPr/>
        </p:nvSpPr>
        <p:spPr>
          <a:xfrm xmlns:a="http://schemas.openxmlformats.org/drawingml/2006/main">
            <a:off x="5257800" y="38290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Update memory</a:t>
            </a:r>
          </a:p>
        </p:txBody>
      </p:sp>
      <p:sp>
        <p:nvSpPr>
          <p:cNvPr id="30" name="">
            <a:extLst xmlns:a="http://schemas.openxmlformats.org/drawingml/2006/main">
              <a:ext uri="{FF2B5EF4-FFF2-40B4-BE49-F238E27FC236}">
                <a16:creationId xmlns:a16="http://schemas.microsoft.com/office/drawing/2014/main" id="{6A7715D8-23D8-4235-BAD0-E250CD41EF26}"/>
              </a:ext>
            </a:extLst>
          </p:cNvPr>
          <p:cNvSpPr>
            <a:spLocks xmlns:a="http://schemas.openxmlformats.org/drawingml/2006/main" noGrp="1"/>
          </p:cNvSpPr>
          <p:nvPr/>
        </p:nvSpPr>
        <p:spPr>
          <a:xfrm xmlns:a="http://schemas.openxmlformats.org/drawingml/2006/main">
            <a:off x="5257800" y="419100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store / merge / profile</a:t>
            </a:r>
          </a:p>
        </p:txBody>
      </p:sp>
      <p:sp>
        <p:nvSpPr>
          <p:cNvPr id="31" name="">
            <a:extLst xmlns:a="http://schemas.openxmlformats.org/drawingml/2006/main">
              <a:ext uri="{FF2B5EF4-FFF2-40B4-BE49-F238E27FC236}">
                <a16:creationId xmlns:a16="http://schemas.microsoft.com/office/drawing/2014/main" id="{9A913938-E2EE-4529-9ED5-3F6A0CB000C0}"/>
              </a:ext>
            </a:extLst>
          </p:cNvPr>
          <p:cNvSpPr>
            <a:spLocks xmlns:a="http://schemas.openxmlformats.org/drawingml/2006/main" noGrp="1"/>
          </p:cNvSpPr>
          <p:nvPr/>
        </p:nvSpPr>
        <p:spPr>
          <a:xfrm xmlns:a="http://schemas.openxmlformats.org/drawingml/2006/main">
            <a:off x="8096250" y="3562350"/>
            <a:ext cx="2952750" cy="1238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32" name="">
            <a:extLst xmlns:a="http://schemas.openxmlformats.org/drawingml/2006/main">
              <a:ext uri="{FF2B5EF4-FFF2-40B4-BE49-F238E27FC236}">
                <a16:creationId xmlns:a16="http://schemas.microsoft.com/office/drawing/2014/main" id="{B26316D5-CF0B-4EDA-8627-DE3A2C35D013}"/>
              </a:ext>
            </a:extLst>
          </p:cNvPr>
          <p:cNvSpPr>
            <a:spLocks xmlns:a="http://schemas.openxmlformats.org/drawingml/2006/main" noGrp="1"/>
          </p:cNvSpPr>
          <p:nvPr/>
        </p:nvSpPr>
        <p:spPr>
          <a:xfrm xmlns:a="http://schemas.openxmlformats.org/drawingml/2006/main">
            <a:off x="8305800" y="3848100"/>
            <a:ext cx="514350" cy="514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33" name="">
            <a:extLst xmlns:a="http://schemas.openxmlformats.org/drawingml/2006/main">
              <a:ext uri="{FF2B5EF4-FFF2-40B4-BE49-F238E27FC236}">
                <a16:creationId xmlns:a16="http://schemas.microsoft.com/office/drawing/2014/main" id="{B1FA17DE-0F50-423F-A2F8-2390537002EA}"/>
              </a:ext>
            </a:extLst>
          </p:cNvPr>
          <p:cNvSpPr>
            <a:spLocks xmlns:a="http://schemas.openxmlformats.org/drawingml/2006/main" noGrp="1"/>
          </p:cNvSpPr>
          <p:nvPr/>
        </p:nvSpPr>
        <p:spPr>
          <a:xfrm xmlns:a="http://schemas.openxmlformats.org/drawingml/2006/main">
            <a:off x="8458200" y="3962400"/>
            <a:ext cx="2286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defRPr>
            </a:pPr>
            <a:r>
              <a:rPr sz="1650" b="1">
                <a:solidFill>
                  <a:srgbClr val="FFFFFF"/>
                </a:solidFill>
              </a:rPr>
              <a:t>6</a:t>
            </a:r>
          </a:p>
        </p:txBody>
      </p:sp>
      <p:sp>
        <p:nvSpPr>
          <p:cNvPr id="34" name="">
            <a:extLst xmlns:a="http://schemas.openxmlformats.org/drawingml/2006/main">
              <a:ext uri="{FF2B5EF4-FFF2-40B4-BE49-F238E27FC236}">
                <a16:creationId xmlns:a16="http://schemas.microsoft.com/office/drawing/2014/main" id="{0BA9FE48-6B86-41B1-8B23-64FE427CD047}"/>
              </a:ext>
            </a:extLst>
          </p:cNvPr>
          <p:cNvSpPr>
            <a:spLocks xmlns:a="http://schemas.openxmlformats.org/drawingml/2006/main" noGrp="1"/>
          </p:cNvSpPr>
          <p:nvPr/>
        </p:nvSpPr>
        <p:spPr>
          <a:xfrm xmlns:a="http://schemas.openxmlformats.org/drawingml/2006/main">
            <a:off x="8972550" y="38290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033"/>
                </a:solidFill>
              </a:defRPr>
            </a:pPr>
            <a:r>
              <a:rPr sz="1800" b="1">
                <a:solidFill>
                  <a:srgbClr val="172033"/>
                </a:solidFill>
              </a:rPr>
              <a:t>Student controls</a:t>
            </a:r>
          </a:p>
        </p:txBody>
      </p:sp>
      <p:sp>
        <p:nvSpPr>
          <p:cNvPr id="35" name="">
            <a:extLst xmlns:a="http://schemas.openxmlformats.org/drawingml/2006/main">
              <a:ext uri="{FF2B5EF4-FFF2-40B4-BE49-F238E27FC236}">
                <a16:creationId xmlns:a16="http://schemas.microsoft.com/office/drawing/2014/main" id="{D4EDBA6C-29AB-482B-8D6A-19C8840A7518}"/>
              </a:ext>
            </a:extLst>
          </p:cNvPr>
          <p:cNvSpPr>
            <a:spLocks xmlns:a="http://schemas.openxmlformats.org/drawingml/2006/main" noGrp="1"/>
          </p:cNvSpPr>
          <p:nvPr/>
        </p:nvSpPr>
        <p:spPr>
          <a:xfrm xmlns:a="http://schemas.openxmlformats.org/drawingml/2006/main">
            <a:off x="8972550" y="4191000"/>
            <a:ext cx="1714500" cy="3429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view / edit / delete</a:t>
            </a:r>
          </a:p>
        </p:txBody>
      </p:sp>
      <p:cxnSp>
        <p:nvCxnSpPr>
          <p:cNvPr id="36" name=""/>
          <p:cNvCxnSpPr>
            <a:stCxn xmlns:a="http://schemas.openxmlformats.org/drawingml/2006/main" id="6" idx="3"/>
            <a:endCxn xmlns:a="http://schemas.openxmlformats.org/drawingml/2006/main" id="11" idx="1"/>
          </p:cNvCxnSpPr>
          <p:nvPr/>
        </p:nvCxnSpPr>
        <p:spPr>
          <a:xfrm xmlns:a="http://schemas.openxmlformats.org/drawingml/2006/main">
            <a:off x="3619500" y="2371725"/>
            <a:ext cx="762000" cy="0"/>
          </a:xfrm>
          <a:prstGeom xmlns:a="http://schemas.openxmlformats.org/drawingml/2006/main" prst="straightConnector1">
            <a:avLst/>
          </a:prstGeom>
          <a:ln xmlns:a="http://schemas.openxmlformats.org/drawingml/2006/main" w="19050">
            <a:solidFill>
              <a:srgbClr val="4F46E5"/>
            </a:solidFill>
            <a:prstDash val="solid"/>
            <a:headEnd type="arrow" w="med" len="med"/>
          </a:ln>
        </p:spPr>
      </p:cxnSp>
      <p:cxnSp>
        <p:nvCxnSpPr>
          <p:cNvPr id="37" name=""/>
          <p:cNvCxnSpPr>
            <a:stCxn xmlns:a="http://schemas.openxmlformats.org/drawingml/2006/main" id="11" idx="3"/>
            <a:endCxn xmlns:a="http://schemas.openxmlformats.org/drawingml/2006/main" id="16" idx="1"/>
          </p:cNvCxnSpPr>
          <p:nvPr/>
        </p:nvCxnSpPr>
        <p:spPr>
          <a:xfrm xmlns:a="http://schemas.openxmlformats.org/drawingml/2006/main">
            <a:off x="7334250" y="2371725"/>
            <a:ext cx="762000" cy="0"/>
          </a:xfrm>
          <a:prstGeom xmlns:a="http://schemas.openxmlformats.org/drawingml/2006/main" prst="straightConnector1">
            <a:avLst/>
          </a:prstGeom>
          <a:ln xmlns:a="http://schemas.openxmlformats.org/drawingml/2006/main" w="19050">
            <a:solidFill>
              <a:srgbClr val="4F46E5"/>
            </a:solidFill>
            <a:prstDash val="solid"/>
            <a:headEnd type="arrow" w="med" len="med"/>
          </a:ln>
        </p:spPr>
      </p:cxnSp>
      <p:cxnSp>
        <p:nvCxnSpPr>
          <p:cNvPr id="38" name=""/>
          <p:cNvCxnSpPr>
            <a:stCxn xmlns:a="http://schemas.openxmlformats.org/drawingml/2006/main" id="21" idx="3"/>
            <a:endCxn xmlns:a="http://schemas.openxmlformats.org/drawingml/2006/main" id="26" idx="1"/>
          </p:cNvCxnSpPr>
          <p:nvPr/>
        </p:nvCxnSpPr>
        <p:spPr>
          <a:xfrm xmlns:a="http://schemas.openxmlformats.org/drawingml/2006/main">
            <a:off x="3619500" y="4181475"/>
            <a:ext cx="762000" cy="0"/>
          </a:xfrm>
          <a:prstGeom xmlns:a="http://schemas.openxmlformats.org/drawingml/2006/main" prst="straightConnector1">
            <a:avLst/>
          </a:prstGeom>
          <a:ln xmlns:a="http://schemas.openxmlformats.org/drawingml/2006/main" w="19050">
            <a:solidFill>
              <a:srgbClr val="10B981"/>
            </a:solidFill>
            <a:prstDash val="solid"/>
            <a:headEnd type="arrow" w="med" len="med"/>
          </a:ln>
        </p:spPr>
      </p:cxnSp>
      <p:cxnSp>
        <p:nvCxnSpPr>
          <p:cNvPr id="39" name=""/>
          <p:cNvCxnSpPr>
            <a:stCxn xmlns:a="http://schemas.openxmlformats.org/drawingml/2006/main" id="26" idx="3"/>
            <a:endCxn xmlns:a="http://schemas.openxmlformats.org/drawingml/2006/main" id="31" idx="1"/>
          </p:cNvCxnSpPr>
          <p:nvPr/>
        </p:nvCxnSpPr>
        <p:spPr>
          <a:xfrm xmlns:a="http://schemas.openxmlformats.org/drawingml/2006/main">
            <a:off x="7334250" y="4181475"/>
            <a:ext cx="762000" cy="0"/>
          </a:xfrm>
          <a:prstGeom xmlns:a="http://schemas.openxmlformats.org/drawingml/2006/main" prst="straightConnector1">
            <a:avLst/>
          </a:prstGeom>
          <a:ln xmlns:a="http://schemas.openxmlformats.org/drawingml/2006/main" w="19050">
            <a:solidFill>
              <a:srgbClr val="10B981"/>
            </a:solidFill>
            <a:prstDash val="solid"/>
            <a:headEnd type="arrow" w="med" len="med"/>
          </a:ln>
        </p:spPr>
      </p:cxnSp>
      <p:sp>
        <p:nvSpPr>
          <p:cNvPr id="40" name="">
            <a:extLst xmlns:a="http://schemas.openxmlformats.org/drawingml/2006/main">
              <a:ext uri="{FF2B5EF4-FFF2-40B4-BE49-F238E27FC236}">
                <a16:creationId xmlns:a16="http://schemas.microsoft.com/office/drawing/2014/main" id="{08E6BE09-48C7-40CC-BA46-E5937E6F7CEF}"/>
              </a:ext>
            </a:extLst>
          </p:cNvPr>
          <p:cNvSpPr>
            <a:spLocks xmlns:a="http://schemas.openxmlformats.org/drawingml/2006/main" noGrp="1"/>
          </p:cNvSpPr>
          <p:nvPr/>
        </p:nvSpPr>
        <p:spPr>
          <a:xfrm xmlns:a="http://schemas.openxmlformats.org/drawingml/2006/main">
            <a:off x="2152650" y="5886450"/>
            <a:ext cx="78105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7C3AED"/>
                </a:solidFill>
              </a:defRPr>
            </a:pPr>
            <a:r>
              <a:rPr sz="1800" b="1">
                <a:solidFill>
                  <a:srgbClr val="7C3AED"/>
                </a:solidFill>
              </a:rPr>
              <a:t>Five required operations: Store, Retrieve, Update, Summarize, Delete</a:t>
            </a:r>
          </a:p>
        </p:txBody>
      </p:sp>
    </p:spTree>
    <p:extLst>
      <p:ext uri="{BB962C8B-B14F-4D97-AF65-F5344CB8AC3E}">
        <p14:creationId xmlns:p14="http://schemas.microsoft.com/office/powerpoint/2010/main" val="114015697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878BDAB-3C2B-47E8-B7F9-F11FB43EA335}"/>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A3FC6F5A-CF2B-4BFF-A002-3AB95D0BE2EA}"/>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18D80BBF-C84C-4E23-929D-3E405E163A2A}"/>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WHAT TO SHOW IN CLASS</a:t>
            </a:r>
          </a:p>
        </p:txBody>
      </p:sp>
      <p:sp>
        <p:nvSpPr>
          <p:cNvPr id="5" name="">
            <a:extLst xmlns:a="http://schemas.openxmlformats.org/drawingml/2006/main">
              <a:ext uri="{FF2B5EF4-FFF2-40B4-BE49-F238E27FC236}">
                <a16:creationId xmlns:a16="http://schemas.microsoft.com/office/drawing/2014/main" id="{094E65CD-8F9C-4CF5-BBF1-486654023F41}"/>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Live Demo Script</a:t>
            </a:r>
          </a:p>
        </p:txBody>
      </p:sp>
      <p:sp>
        <p:nvSpPr>
          <p:cNvPr id="6" name="">
            <a:extLst xmlns:a="http://schemas.openxmlformats.org/drawingml/2006/main">
              <a:ext uri="{FF2B5EF4-FFF2-40B4-BE49-F238E27FC236}">
                <a16:creationId xmlns:a16="http://schemas.microsoft.com/office/drawing/2014/main" id="{142688E5-6C27-48A0-9152-AB5F4C3EDBD1}"/>
              </a:ext>
            </a:extLst>
          </p:cNvPr>
          <p:cNvSpPr>
            <a:spLocks xmlns:a="http://schemas.openxmlformats.org/drawingml/2006/main" noGrp="1"/>
          </p:cNvSpPr>
          <p:nvPr/>
        </p:nvSpPr>
        <p:spPr>
          <a:xfrm xmlns:a="http://schemas.openxmlformats.org/drawingml/2006/main">
            <a:off x="666750" y="2038350"/>
            <a:ext cx="1447800" cy="2000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140ED291-FF8E-47BE-A3D9-1252A4A8EA1D}"/>
              </a:ext>
            </a:extLst>
          </p:cNvPr>
          <p:cNvSpPr>
            <a:spLocks xmlns:a="http://schemas.openxmlformats.org/drawingml/2006/main" noGrp="1"/>
          </p:cNvSpPr>
          <p:nvPr/>
        </p:nvSpPr>
        <p:spPr>
          <a:xfrm xmlns:a="http://schemas.openxmlformats.org/drawingml/2006/main">
            <a:off x="11144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1</a:t>
            </a:r>
          </a:p>
        </p:txBody>
      </p:sp>
      <p:sp>
        <p:nvSpPr>
          <p:cNvPr id="8" name="">
            <a:extLst xmlns:a="http://schemas.openxmlformats.org/drawingml/2006/main">
              <a:ext uri="{FF2B5EF4-FFF2-40B4-BE49-F238E27FC236}">
                <a16:creationId xmlns:a16="http://schemas.microsoft.com/office/drawing/2014/main" id="{25AFFAF6-C977-4F75-B418-D6B0E029649E}"/>
              </a:ext>
            </a:extLst>
          </p:cNvPr>
          <p:cNvSpPr>
            <a:spLocks xmlns:a="http://schemas.openxmlformats.org/drawingml/2006/main" noGrp="1"/>
          </p:cNvSpPr>
          <p:nvPr/>
        </p:nvSpPr>
        <p:spPr>
          <a:xfrm xmlns:a="http://schemas.openxmlformats.org/drawingml/2006/main">
            <a:off x="8382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Login</a:t>
            </a:r>
          </a:p>
        </p:txBody>
      </p:sp>
      <p:sp>
        <p:nvSpPr>
          <p:cNvPr id="9" name="">
            <a:extLst xmlns:a="http://schemas.openxmlformats.org/drawingml/2006/main">
              <a:ext uri="{FF2B5EF4-FFF2-40B4-BE49-F238E27FC236}">
                <a16:creationId xmlns:a16="http://schemas.microsoft.com/office/drawing/2014/main" id="{973FFBD5-BA5E-4469-A337-06DECCE02C9D}"/>
              </a:ext>
            </a:extLst>
          </p:cNvPr>
          <p:cNvSpPr>
            <a:spLocks xmlns:a="http://schemas.openxmlformats.org/drawingml/2006/main" noGrp="1"/>
          </p:cNvSpPr>
          <p:nvPr/>
        </p:nvSpPr>
        <p:spPr>
          <a:xfrm xmlns:a="http://schemas.openxmlformats.org/drawingml/2006/main">
            <a:off x="8191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Use demo student</a:t>
            </a:r>
          </a:p>
          <a:p xmlns:a="http://schemas.openxmlformats.org/drawingml/2006/main">
            <a:pPr algn="ctr">
              <a:defRPr sz="1125" b="0">
                <a:solidFill>
                  <a:srgbClr val="64748B"/>
                </a:solidFill>
              </a:defRPr>
            </a:pPr>
            <a:r>
              <a:rPr sz="1125" b="0">
                <a:solidFill>
                  <a:srgbClr val="64748B"/>
                </a:solidFill>
              </a:rPr>
              <a:t>or register</a:t>
            </a:r>
          </a:p>
        </p:txBody>
      </p:sp>
      <p:sp>
        <p:nvSpPr>
          <p:cNvPr id="10" name="">
            <a:extLst xmlns:a="http://schemas.openxmlformats.org/drawingml/2006/main">
              <a:ext uri="{FF2B5EF4-FFF2-40B4-BE49-F238E27FC236}">
                <a16:creationId xmlns:a16="http://schemas.microsoft.com/office/drawing/2014/main" id="{ECD4535E-D336-425B-B40F-2A10E56A49C0}"/>
              </a:ext>
            </a:extLst>
          </p:cNvPr>
          <p:cNvSpPr>
            <a:spLocks xmlns:a="http://schemas.openxmlformats.org/drawingml/2006/main" noGrp="1"/>
          </p:cNvSpPr>
          <p:nvPr/>
        </p:nvSpPr>
        <p:spPr>
          <a:xfrm xmlns:a="http://schemas.openxmlformats.org/drawingml/2006/main">
            <a:off x="2152650" y="2819400"/>
            <a:ext cx="381000" cy="342900"/>
          </a:xfrm>
          <a:prstGeom xmlns:a="http://schemas.openxmlformats.org/drawingml/2006/main" prst="rightArrow">
            <a:avLst/>
          </a:prstGeom>
          <a:solidFill xmlns:a="http://schemas.openxmlformats.org/drawingml/2006/main">
            <a:srgbClr val="06B6D4"/>
          </a:solidFill>
          <a:ln xmlns:a="http://schemas.openxmlformats.org/drawingml/2006/main" w="0">
            <a:solidFill>
              <a:srgbClr val="06B6D4"/>
            </a:solidFill>
          </a:ln>
        </p:spPr>
      </p:sp>
      <p:sp>
        <p:nvSpPr>
          <p:cNvPr id="11" name="">
            <a:extLst xmlns:a="http://schemas.openxmlformats.org/drawingml/2006/main">
              <a:ext uri="{FF2B5EF4-FFF2-40B4-BE49-F238E27FC236}">
                <a16:creationId xmlns:a16="http://schemas.microsoft.com/office/drawing/2014/main" id="{356C8346-FBA0-4C13-AFCC-632C77E704B5}"/>
              </a:ext>
            </a:extLst>
          </p:cNvPr>
          <p:cNvSpPr>
            <a:spLocks xmlns:a="http://schemas.openxmlformats.org/drawingml/2006/main" noGrp="1"/>
          </p:cNvSpPr>
          <p:nvPr/>
        </p:nvSpPr>
        <p:spPr>
          <a:xfrm xmlns:a="http://schemas.openxmlformats.org/drawingml/2006/main">
            <a:off x="2495550" y="2038350"/>
            <a:ext cx="1447800" cy="2000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12" name="">
            <a:extLst xmlns:a="http://schemas.openxmlformats.org/drawingml/2006/main">
              <a:ext uri="{FF2B5EF4-FFF2-40B4-BE49-F238E27FC236}">
                <a16:creationId xmlns:a16="http://schemas.microsoft.com/office/drawing/2014/main" id="{BEE3531A-1F3E-4DD3-B4B4-D3D8EC20349F}"/>
              </a:ext>
            </a:extLst>
          </p:cNvPr>
          <p:cNvSpPr>
            <a:spLocks xmlns:a="http://schemas.openxmlformats.org/drawingml/2006/main" noGrp="1"/>
          </p:cNvSpPr>
          <p:nvPr/>
        </p:nvSpPr>
        <p:spPr>
          <a:xfrm xmlns:a="http://schemas.openxmlformats.org/drawingml/2006/main">
            <a:off x="29432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2</a:t>
            </a:r>
          </a:p>
        </p:txBody>
      </p:sp>
      <p:sp>
        <p:nvSpPr>
          <p:cNvPr id="13" name="">
            <a:extLst xmlns:a="http://schemas.openxmlformats.org/drawingml/2006/main">
              <a:ext uri="{FF2B5EF4-FFF2-40B4-BE49-F238E27FC236}">
                <a16:creationId xmlns:a16="http://schemas.microsoft.com/office/drawing/2014/main" id="{6DEA3A00-B905-4D0D-AE5F-2AC34E47D75F}"/>
              </a:ext>
            </a:extLst>
          </p:cNvPr>
          <p:cNvSpPr>
            <a:spLocks xmlns:a="http://schemas.openxmlformats.org/drawingml/2006/main" noGrp="1"/>
          </p:cNvSpPr>
          <p:nvPr/>
        </p:nvSpPr>
        <p:spPr>
          <a:xfrm xmlns:a="http://schemas.openxmlformats.org/drawingml/2006/main">
            <a:off x="26670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Dashboard</a:t>
            </a:r>
          </a:p>
        </p:txBody>
      </p:sp>
      <p:sp>
        <p:nvSpPr>
          <p:cNvPr id="14" name="">
            <a:extLst xmlns:a="http://schemas.openxmlformats.org/drawingml/2006/main">
              <a:ext uri="{FF2B5EF4-FFF2-40B4-BE49-F238E27FC236}">
                <a16:creationId xmlns:a16="http://schemas.microsoft.com/office/drawing/2014/main" id="{FF178D57-80BC-4E46-9C63-7EB7CF3284D7}"/>
              </a:ext>
            </a:extLst>
          </p:cNvPr>
          <p:cNvSpPr>
            <a:spLocks xmlns:a="http://schemas.openxmlformats.org/drawingml/2006/main" noGrp="1"/>
          </p:cNvSpPr>
          <p:nvPr/>
        </p:nvSpPr>
        <p:spPr>
          <a:xfrm xmlns:a="http://schemas.openxmlformats.org/drawingml/2006/main">
            <a:off x="26479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Weak areas +</a:t>
            </a:r>
          </a:p>
          <a:p xmlns:a="http://schemas.openxmlformats.org/drawingml/2006/main">
            <a:pPr algn="ctr">
              <a:defRPr sz="1125" b="0">
                <a:solidFill>
                  <a:srgbClr val="64748B"/>
                </a:solidFill>
              </a:defRPr>
            </a:pPr>
            <a:r>
              <a:rPr sz="1125" b="0">
                <a:solidFill>
                  <a:srgbClr val="64748B"/>
                </a:solidFill>
              </a:rPr>
              <a:t>recent sessions</a:t>
            </a:r>
          </a:p>
        </p:txBody>
      </p:sp>
      <p:sp>
        <p:nvSpPr>
          <p:cNvPr id="15" name="">
            <a:extLst xmlns:a="http://schemas.openxmlformats.org/drawingml/2006/main">
              <a:ext uri="{FF2B5EF4-FFF2-40B4-BE49-F238E27FC236}">
                <a16:creationId xmlns:a16="http://schemas.microsoft.com/office/drawing/2014/main" id="{66E866FF-87BC-4F25-90BF-15A33B58F661}"/>
              </a:ext>
            </a:extLst>
          </p:cNvPr>
          <p:cNvSpPr>
            <a:spLocks xmlns:a="http://schemas.openxmlformats.org/drawingml/2006/main" noGrp="1"/>
          </p:cNvSpPr>
          <p:nvPr/>
        </p:nvSpPr>
        <p:spPr>
          <a:xfrm xmlns:a="http://schemas.openxmlformats.org/drawingml/2006/main">
            <a:off x="3981450" y="2819400"/>
            <a:ext cx="381000" cy="342900"/>
          </a:xfrm>
          <a:prstGeom xmlns:a="http://schemas.openxmlformats.org/drawingml/2006/main" prst="rightArrow">
            <a:avLst/>
          </a:prstGeom>
          <a:solidFill xmlns:a="http://schemas.openxmlformats.org/drawingml/2006/main">
            <a:srgbClr val="06B6D4"/>
          </a:solidFill>
          <a:ln xmlns:a="http://schemas.openxmlformats.org/drawingml/2006/main" w="0">
            <a:solidFill>
              <a:srgbClr val="06B6D4"/>
            </a:solidFill>
          </a:ln>
        </p:spPr>
      </p:sp>
      <p:sp>
        <p:nvSpPr>
          <p:cNvPr id="16" name="">
            <a:extLst xmlns:a="http://schemas.openxmlformats.org/drawingml/2006/main">
              <a:ext uri="{FF2B5EF4-FFF2-40B4-BE49-F238E27FC236}">
                <a16:creationId xmlns:a16="http://schemas.microsoft.com/office/drawing/2014/main" id="{51AC0DF1-2D0D-4CEE-A744-2160BF2541E0}"/>
              </a:ext>
            </a:extLst>
          </p:cNvPr>
          <p:cNvSpPr>
            <a:spLocks xmlns:a="http://schemas.openxmlformats.org/drawingml/2006/main" noGrp="1"/>
          </p:cNvSpPr>
          <p:nvPr/>
        </p:nvSpPr>
        <p:spPr>
          <a:xfrm xmlns:a="http://schemas.openxmlformats.org/drawingml/2006/main">
            <a:off x="4324350" y="2038350"/>
            <a:ext cx="1447800" cy="2000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17" name="">
            <a:extLst xmlns:a="http://schemas.openxmlformats.org/drawingml/2006/main">
              <a:ext uri="{FF2B5EF4-FFF2-40B4-BE49-F238E27FC236}">
                <a16:creationId xmlns:a16="http://schemas.microsoft.com/office/drawing/2014/main" id="{6AE04C21-A139-42F1-A113-E118744D2D3A}"/>
              </a:ext>
            </a:extLst>
          </p:cNvPr>
          <p:cNvSpPr>
            <a:spLocks xmlns:a="http://schemas.openxmlformats.org/drawingml/2006/main" noGrp="1"/>
          </p:cNvSpPr>
          <p:nvPr/>
        </p:nvSpPr>
        <p:spPr>
          <a:xfrm xmlns:a="http://schemas.openxmlformats.org/drawingml/2006/main">
            <a:off x="47720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3</a:t>
            </a:r>
          </a:p>
        </p:txBody>
      </p:sp>
      <p:sp>
        <p:nvSpPr>
          <p:cNvPr id="18" name="">
            <a:extLst xmlns:a="http://schemas.openxmlformats.org/drawingml/2006/main">
              <a:ext uri="{FF2B5EF4-FFF2-40B4-BE49-F238E27FC236}">
                <a16:creationId xmlns:a16="http://schemas.microsoft.com/office/drawing/2014/main" id="{6D6343DE-93AB-47AB-B001-DC6548003CF6}"/>
              </a:ext>
            </a:extLst>
          </p:cNvPr>
          <p:cNvSpPr>
            <a:spLocks xmlns:a="http://schemas.openxmlformats.org/drawingml/2006/main" noGrp="1"/>
          </p:cNvSpPr>
          <p:nvPr/>
        </p:nvSpPr>
        <p:spPr>
          <a:xfrm xmlns:a="http://schemas.openxmlformats.org/drawingml/2006/main">
            <a:off x="44958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Tutor Chat</a:t>
            </a:r>
          </a:p>
        </p:txBody>
      </p:sp>
      <p:sp>
        <p:nvSpPr>
          <p:cNvPr id="19" name="">
            <a:extLst xmlns:a="http://schemas.openxmlformats.org/drawingml/2006/main">
              <a:ext uri="{FF2B5EF4-FFF2-40B4-BE49-F238E27FC236}">
                <a16:creationId xmlns:a16="http://schemas.microsoft.com/office/drawing/2014/main" id="{E19DA209-647A-4975-8270-C0BC7328B92B}"/>
              </a:ext>
            </a:extLst>
          </p:cNvPr>
          <p:cNvSpPr>
            <a:spLocks xmlns:a="http://schemas.openxmlformats.org/drawingml/2006/main" noGrp="1"/>
          </p:cNvSpPr>
          <p:nvPr/>
        </p:nvSpPr>
        <p:spPr>
          <a:xfrm xmlns:a="http://schemas.openxmlformats.org/drawingml/2006/main">
            <a:off x="44767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Ask fractions or</a:t>
            </a:r>
          </a:p>
          <a:p xmlns:a="http://schemas.openxmlformats.org/drawingml/2006/main">
            <a:pPr algn="ctr">
              <a:defRPr sz="1125" b="0">
                <a:solidFill>
                  <a:srgbClr val="64748B"/>
                </a:solidFill>
              </a:defRPr>
            </a:pPr>
            <a:r>
              <a:rPr sz="1125" b="0">
                <a:solidFill>
                  <a:srgbClr val="64748B"/>
                </a:solidFill>
              </a:rPr>
              <a:t>algebra question</a:t>
            </a:r>
          </a:p>
        </p:txBody>
      </p:sp>
      <p:sp>
        <p:nvSpPr>
          <p:cNvPr id="20" name="">
            <a:extLst xmlns:a="http://schemas.openxmlformats.org/drawingml/2006/main">
              <a:ext uri="{FF2B5EF4-FFF2-40B4-BE49-F238E27FC236}">
                <a16:creationId xmlns:a16="http://schemas.microsoft.com/office/drawing/2014/main" id="{178A63A4-5507-4FB0-A412-4EF12CA155F9}"/>
              </a:ext>
            </a:extLst>
          </p:cNvPr>
          <p:cNvSpPr>
            <a:spLocks xmlns:a="http://schemas.openxmlformats.org/drawingml/2006/main" noGrp="1"/>
          </p:cNvSpPr>
          <p:nvPr/>
        </p:nvSpPr>
        <p:spPr>
          <a:xfrm xmlns:a="http://schemas.openxmlformats.org/drawingml/2006/main">
            <a:off x="5810250" y="2819400"/>
            <a:ext cx="381000" cy="342900"/>
          </a:xfrm>
          <a:prstGeom xmlns:a="http://schemas.openxmlformats.org/drawingml/2006/main" prst="rightArrow">
            <a:avLst/>
          </a:prstGeom>
          <a:solidFill xmlns:a="http://schemas.openxmlformats.org/drawingml/2006/main">
            <a:srgbClr val="06B6D4"/>
          </a:solidFill>
          <a:ln xmlns:a="http://schemas.openxmlformats.org/drawingml/2006/main" w="0">
            <a:solidFill>
              <a:srgbClr val="06B6D4"/>
            </a:solidFill>
          </a:ln>
        </p:spPr>
      </p:sp>
      <p:sp>
        <p:nvSpPr>
          <p:cNvPr id="21" name="">
            <a:extLst xmlns:a="http://schemas.openxmlformats.org/drawingml/2006/main">
              <a:ext uri="{FF2B5EF4-FFF2-40B4-BE49-F238E27FC236}">
                <a16:creationId xmlns:a16="http://schemas.microsoft.com/office/drawing/2014/main" id="{EE654B27-E1D9-4B0B-83A8-D06FE1BE500B}"/>
              </a:ext>
            </a:extLst>
          </p:cNvPr>
          <p:cNvSpPr>
            <a:spLocks xmlns:a="http://schemas.openxmlformats.org/drawingml/2006/main" noGrp="1"/>
          </p:cNvSpPr>
          <p:nvPr/>
        </p:nvSpPr>
        <p:spPr>
          <a:xfrm xmlns:a="http://schemas.openxmlformats.org/drawingml/2006/main">
            <a:off x="6153150" y="2038350"/>
            <a:ext cx="1447800" cy="2000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22" name="">
            <a:extLst xmlns:a="http://schemas.openxmlformats.org/drawingml/2006/main">
              <a:ext uri="{FF2B5EF4-FFF2-40B4-BE49-F238E27FC236}">
                <a16:creationId xmlns:a16="http://schemas.microsoft.com/office/drawing/2014/main" id="{FCC41E06-BAC8-432C-B565-982F332C1E6E}"/>
              </a:ext>
            </a:extLst>
          </p:cNvPr>
          <p:cNvSpPr>
            <a:spLocks xmlns:a="http://schemas.openxmlformats.org/drawingml/2006/main" noGrp="1"/>
          </p:cNvSpPr>
          <p:nvPr/>
        </p:nvSpPr>
        <p:spPr>
          <a:xfrm xmlns:a="http://schemas.openxmlformats.org/drawingml/2006/main">
            <a:off x="66008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4</a:t>
            </a:r>
          </a:p>
        </p:txBody>
      </p:sp>
      <p:sp>
        <p:nvSpPr>
          <p:cNvPr id="23" name="">
            <a:extLst xmlns:a="http://schemas.openxmlformats.org/drawingml/2006/main">
              <a:ext uri="{FF2B5EF4-FFF2-40B4-BE49-F238E27FC236}">
                <a16:creationId xmlns:a16="http://schemas.microsoft.com/office/drawing/2014/main" id="{5D4F61D3-93EC-41D3-B69A-FD343EDC40BC}"/>
              </a:ext>
            </a:extLst>
          </p:cNvPr>
          <p:cNvSpPr>
            <a:spLocks xmlns:a="http://schemas.openxmlformats.org/drawingml/2006/main" noGrp="1"/>
          </p:cNvSpPr>
          <p:nvPr/>
        </p:nvSpPr>
        <p:spPr>
          <a:xfrm xmlns:a="http://schemas.openxmlformats.org/drawingml/2006/main">
            <a:off x="63246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Memory Center</a:t>
            </a:r>
          </a:p>
        </p:txBody>
      </p:sp>
      <p:sp>
        <p:nvSpPr>
          <p:cNvPr id="24" name="">
            <a:extLst xmlns:a="http://schemas.openxmlformats.org/drawingml/2006/main">
              <a:ext uri="{FF2B5EF4-FFF2-40B4-BE49-F238E27FC236}">
                <a16:creationId xmlns:a16="http://schemas.microsoft.com/office/drawing/2014/main" id="{C2BC39A2-8895-4B4E-8D7D-9C6B3482C70D}"/>
              </a:ext>
            </a:extLst>
          </p:cNvPr>
          <p:cNvSpPr>
            <a:spLocks xmlns:a="http://schemas.openxmlformats.org/drawingml/2006/main" noGrp="1"/>
          </p:cNvSpPr>
          <p:nvPr/>
        </p:nvSpPr>
        <p:spPr>
          <a:xfrm xmlns:a="http://schemas.openxmlformats.org/drawingml/2006/main">
            <a:off x="63055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See extracted</a:t>
            </a:r>
          </a:p>
          <a:p xmlns:a="http://schemas.openxmlformats.org/drawingml/2006/main">
            <a:pPr algn="ctr">
              <a:defRPr sz="1125" b="0">
                <a:solidFill>
                  <a:srgbClr val="64748B"/>
                </a:solidFill>
              </a:defRPr>
            </a:pPr>
            <a:r>
              <a:rPr sz="1125" b="0">
                <a:solidFill>
                  <a:srgbClr val="64748B"/>
                </a:solidFill>
              </a:rPr>
              <a:t>learner facts</a:t>
            </a:r>
          </a:p>
        </p:txBody>
      </p:sp>
      <p:sp>
        <p:nvSpPr>
          <p:cNvPr id="25" name="">
            <a:extLst xmlns:a="http://schemas.openxmlformats.org/drawingml/2006/main">
              <a:ext uri="{FF2B5EF4-FFF2-40B4-BE49-F238E27FC236}">
                <a16:creationId xmlns:a16="http://schemas.microsoft.com/office/drawing/2014/main" id="{B373C718-ACC7-4E4C-85F0-F77CBC28DA38}"/>
              </a:ext>
            </a:extLst>
          </p:cNvPr>
          <p:cNvSpPr>
            <a:spLocks xmlns:a="http://schemas.openxmlformats.org/drawingml/2006/main" noGrp="1"/>
          </p:cNvSpPr>
          <p:nvPr/>
        </p:nvSpPr>
        <p:spPr>
          <a:xfrm xmlns:a="http://schemas.openxmlformats.org/drawingml/2006/main">
            <a:off x="7639050" y="2819400"/>
            <a:ext cx="381000" cy="342900"/>
          </a:xfrm>
          <a:prstGeom xmlns:a="http://schemas.openxmlformats.org/drawingml/2006/main" prst="rightArrow">
            <a:avLst/>
          </a:prstGeom>
          <a:solidFill xmlns:a="http://schemas.openxmlformats.org/drawingml/2006/main">
            <a:srgbClr val="06B6D4"/>
          </a:solidFill>
          <a:ln xmlns:a="http://schemas.openxmlformats.org/drawingml/2006/main" w="0">
            <a:solidFill>
              <a:srgbClr val="06B6D4"/>
            </a:solidFill>
          </a:ln>
        </p:spPr>
      </p:sp>
      <p:sp>
        <p:nvSpPr>
          <p:cNvPr id="26" name="">
            <a:extLst xmlns:a="http://schemas.openxmlformats.org/drawingml/2006/main">
              <a:ext uri="{FF2B5EF4-FFF2-40B4-BE49-F238E27FC236}">
                <a16:creationId xmlns:a16="http://schemas.microsoft.com/office/drawing/2014/main" id="{55F79C56-AC97-4C45-845B-B0ECAF4716DD}"/>
              </a:ext>
            </a:extLst>
          </p:cNvPr>
          <p:cNvSpPr>
            <a:spLocks xmlns:a="http://schemas.openxmlformats.org/drawingml/2006/main" noGrp="1"/>
          </p:cNvSpPr>
          <p:nvPr/>
        </p:nvSpPr>
        <p:spPr>
          <a:xfrm xmlns:a="http://schemas.openxmlformats.org/drawingml/2006/main">
            <a:off x="7981950" y="2038350"/>
            <a:ext cx="1447800" cy="2000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27" name="">
            <a:extLst xmlns:a="http://schemas.openxmlformats.org/drawingml/2006/main">
              <a:ext uri="{FF2B5EF4-FFF2-40B4-BE49-F238E27FC236}">
                <a16:creationId xmlns:a16="http://schemas.microsoft.com/office/drawing/2014/main" id="{9752CA85-90A0-4731-92EB-2917EBBF149B}"/>
              </a:ext>
            </a:extLst>
          </p:cNvPr>
          <p:cNvSpPr>
            <a:spLocks xmlns:a="http://schemas.openxmlformats.org/drawingml/2006/main" noGrp="1"/>
          </p:cNvSpPr>
          <p:nvPr/>
        </p:nvSpPr>
        <p:spPr>
          <a:xfrm xmlns:a="http://schemas.openxmlformats.org/drawingml/2006/main">
            <a:off x="84296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5</a:t>
            </a:r>
          </a:p>
        </p:txBody>
      </p:sp>
      <p:sp>
        <p:nvSpPr>
          <p:cNvPr id="28" name="">
            <a:extLst xmlns:a="http://schemas.openxmlformats.org/drawingml/2006/main">
              <a:ext uri="{FF2B5EF4-FFF2-40B4-BE49-F238E27FC236}">
                <a16:creationId xmlns:a16="http://schemas.microsoft.com/office/drawing/2014/main" id="{13F122EB-B02F-4BCE-94A0-63FB54EB474B}"/>
              </a:ext>
            </a:extLst>
          </p:cNvPr>
          <p:cNvSpPr>
            <a:spLocks xmlns:a="http://schemas.openxmlformats.org/drawingml/2006/main" noGrp="1"/>
          </p:cNvSpPr>
          <p:nvPr/>
        </p:nvSpPr>
        <p:spPr>
          <a:xfrm xmlns:a="http://schemas.openxmlformats.org/drawingml/2006/main">
            <a:off x="81534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Profile</a:t>
            </a:r>
          </a:p>
        </p:txBody>
      </p:sp>
      <p:sp>
        <p:nvSpPr>
          <p:cNvPr id="29" name="">
            <a:extLst xmlns:a="http://schemas.openxmlformats.org/drawingml/2006/main">
              <a:ext uri="{FF2B5EF4-FFF2-40B4-BE49-F238E27FC236}">
                <a16:creationId xmlns:a16="http://schemas.microsoft.com/office/drawing/2014/main" id="{42CD4920-E26E-42BD-8D94-0A646D5530B5}"/>
              </a:ext>
            </a:extLst>
          </p:cNvPr>
          <p:cNvSpPr>
            <a:spLocks xmlns:a="http://schemas.openxmlformats.org/drawingml/2006/main" noGrp="1"/>
          </p:cNvSpPr>
          <p:nvPr/>
        </p:nvSpPr>
        <p:spPr>
          <a:xfrm xmlns:a="http://schemas.openxmlformats.org/drawingml/2006/main">
            <a:off x="81343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Preferences +</a:t>
            </a:r>
          </a:p>
          <a:p xmlns:a="http://schemas.openxmlformats.org/drawingml/2006/main">
            <a:pPr algn="ctr">
              <a:defRPr sz="1125" b="0">
                <a:solidFill>
                  <a:srgbClr val="64748B"/>
                </a:solidFill>
              </a:defRPr>
            </a:pPr>
            <a:r>
              <a:rPr sz="1125" b="0">
                <a:solidFill>
                  <a:srgbClr val="64748B"/>
                </a:solidFill>
              </a:rPr>
              <a:t>progress summary</a:t>
            </a:r>
          </a:p>
        </p:txBody>
      </p:sp>
      <p:sp>
        <p:nvSpPr>
          <p:cNvPr id="30" name="">
            <a:extLst xmlns:a="http://schemas.openxmlformats.org/drawingml/2006/main">
              <a:ext uri="{FF2B5EF4-FFF2-40B4-BE49-F238E27FC236}">
                <a16:creationId xmlns:a16="http://schemas.microsoft.com/office/drawing/2014/main" id="{5F7CE1FE-E378-4DF5-A439-5F9EBEA8438A}"/>
              </a:ext>
            </a:extLst>
          </p:cNvPr>
          <p:cNvSpPr>
            <a:spLocks xmlns:a="http://schemas.openxmlformats.org/drawingml/2006/main" noGrp="1"/>
          </p:cNvSpPr>
          <p:nvPr/>
        </p:nvSpPr>
        <p:spPr>
          <a:xfrm xmlns:a="http://schemas.openxmlformats.org/drawingml/2006/main">
            <a:off x="9467850" y="2819400"/>
            <a:ext cx="381000" cy="342900"/>
          </a:xfrm>
          <a:prstGeom xmlns:a="http://schemas.openxmlformats.org/drawingml/2006/main" prst="rightArrow">
            <a:avLst/>
          </a:prstGeom>
          <a:solidFill xmlns:a="http://schemas.openxmlformats.org/drawingml/2006/main">
            <a:srgbClr val="06B6D4"/>
          </a:solidFill>
          <a:ln xmlns:a="http://schemas.openxmlformats.org/drawingml/2006/main" w="0">
            <a:solidFill>
              <a:srgbClr val="06B6D4"/>
            </a:solidFill>
          </a:ln>
        </p:spPr>
      </p:sp>
      <p:sp>
        <p:nvSpPr>
          <p:cNvPr id="31" name="">
            <a:extLst xmlns:a="http://schemas.openxmlformats.org/drawingml/2006/main">
              <a:ext uri="{FF2B5EF4-FFF2-40B4-BE49-F238E27FC236}">
                <a16:creationId xmlns:a16="http://schemas.microsoft.com/office/drawing/2014/main" id="{D3253F05-A7F8-471B-9189-EF88CCD79A3B}"/>
              </a:ext>
            </a:extLst>
          </p:cNvPr>
          <p:cNvSpPr>
            <a:spLocks xmlns:a="http://schemas.openxmlformats.org/drawingml/2006/main" noGrp="1"/>
          </p:cNvSpPr>
          <p:nvPr/>
        </p:nvSpPr>
        <p:spPr>
          <a:xfrm xmlns:a="http://schemas.openxmlformats.org/drawingml/2006/main">
            <a:off x="9810750" y="2038350"/>
            <a:ext cx="1447800" cy="200025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32" name="">
            <a:extLst xmlns:a="http://schemas.openxmlformats.org/drawingml/2006/main">
              <a:ext uri="{FF2B5EF4-FFF2-40B4-BE49-F238E27FC236}">
                <a16:creationId xmlns:a16="http://schemas.microsoft.com/office/drawing/2014/main" id="{B5620BCD-614C-4341-BA3F-FB4E4E2328FD}"/>
              </a:ext>
            </a:extLst>
          </p:cNvPr>
          <p:cNvSpPr>
            <a:spLocks xmlns:a="http://schemas.openxmlformats.org/drawingml/2006/main" noGrp="1"/>
          </p:cNvSpPr>
          <p:nvPr/>
        </p:nvSpPr>
        <p:spPr>
          <a:xfrm xmlns:a="http://schemas.openxmlformats.org/drawingml/2006/main">
            <a:off x="10258425" y="2305050"/>
            <a:ext cx="552450" cy="5334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4F46E5"/>
                </a:solidFill>
              </a:defRPr>
            </a:pPr>
            <a:r>
              <a:rPr sz="3150" b="1">
                <a:solidFill>
                  <a:srgbClr val="4F46E5"/>
                </a:solidFill>
              </a:rPr>
              <a:t>6</a:t>
            </a:r>
          </a:p>
        </p:txBody>
      </p:sp>
      <p:sp>
        <p:nvSpPr>
          <p:cNvPr id="33" name="">
            <a:extLst xmlns:a="http://schemas.openxmlformats.org/drawingml/2006/main">
              <a:ext uri="{FF2B5EF4-FFF2-40B4-BE49-F238E27FC236}">
                <a16:creationId xmlns:a16="http://schemas.microsoft.com/office/drawing/2014/main" id="{022077AE-DABF-4E7A-84BA-963BB059AFDF}"/>
              </a:ext>
            </a:extLst>
          </p:cNvPr>
          <p:cNvSpPr>
            <a:spLocks xmlns:a="http://schemas.openxmlformats.org/drawingml/2006/main" noGrp="1"/>
          </p:cNvSpPr>
          <p:nvPr/>
        </p:nvSpPr>
        <p:spPr>
          <a:xfrm xmlns:a="http://schemas.openxmlformats.org/drawingml/2006/main">
            <a:off x="9982200" y="3028950"/>
            <a:ext cx="11049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033"/>
                </a:solidFill>
              </a:defRPr>
            </a:pPr>
            <a:r>
              <a:rPr sz="1500" b="1">
                <a:solidFill>
                  <a:srgbClr val="172033"/>
                </a:solidFill>
              </a:rPr>
              <a:t>Evaluation</a:t>
            </a:r>
          </a:p>
        </p:txBody>
      </p:sp>
      <p:sp>
        <p:nvSpPr>
          <p:cNvPr id="34" name="">
            <a:extLst xmlns:a="http://schemas.openxmlformats.org/drawingml/2006/main">
              <a:ext uri="{FF2B5EF4-FFF2-40B4-BE49-F238E27FC236}">
                <a16:creationId xmlns:a16="http://schemas.microsoft.com/office/drawing/2014/main" id="{C0104421-4D31-4EF0-8759-89975F787B2E}"/>
              </a:ext>
            </a:extLst>
          </p:cNvPr>
          <p:cNvSpPr>
            <a:spLocks xmlns:a="http://schemas.openxmlformats.org/drawingml/2006/main" noGrp="1"/>
          </p:cNvSpPr>
          <p:nvPr/>
        </p:nvSpPr>
        <p:spPr>
          <a:xfrm xmlns:a="http://schemas.openxmlformats.org/drawingml/2006/main">
            <a:off x="9963150" y="3429000"/>
            <a:ext cx="1143000" cy="4381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64748B"/>
                </a:solidFill>
              </a:defRPr>
            </a:pPr>
            <a:r>
              <a:rPr sz="1125" b="0">
                <a:solidFill>
                  <a:srgbClr val="64748B"/>
                </a:solidFill>
              </a:rPr>
              <a:t>Run baseline</a:t>
            </a:r>
          </a:p>
          <a:p xmlns:a="http://schemas.openxmlformats.org/drawingml/2006/main">
            <a:pPr algn="ctr">
              <a:defRPr sz="1125" b="0">
                <a:solidFill>
                  <a:srgbClr val="64748B"/>
                </a:solidFill>
              </a:defRPr>
            </a:pPr>
            <a:r>
              <a:rPr sz="1125" b="0">
                <a:solidFill>
                  <a:srgbClr val="64748B"/>
                </a:solidFill>
              </a:rPr>
              <a:t>comparison</a:t>
            </a:r>
          </a:p>
        </p:txBody>
      </p:sp>
      <p:sp>
        <p:nvSpPr>
          <p:cNvPr id="35" name="">
            <a:extLst xmlns:a="http://schemas.openxmlformats.org/drawingml/2006/main">
              <a:ext uri="{FF2B5EF4-FFF2-40B4-BE49-F238E27FC236}">
                <a16:creationId xmlns:a16="http://schemas.microsoft.com/office/drawing/2014/main" id="{D6D5F8CC-8838-4A60-BE7E-6BECDD6654D2}"/>
              </a:ext>
            </a:extLst>
          </p:cNvPr>
          <p:cNvSpPr>
            <a:spLocks xmlns:a="http://schemas.openxmlformats.org/drawingml/2006/main" noGrp="1"/>
          </p:cNvSpPr>
          <p:nvPr/>
        </p:nvSpPr>
        <p:spPr>
          <a:xfrm xmlns:a="http://schemas.openxmlformats.org/drawingml/2006/main">
            <a:off x="1524000" y="4762500"/>
            <a:ext cx="9144000" cy="704850"/>
          </a:xfrm>
          <a:prstGeom xmlns:a="http://schemas.openxmlformats.org/drawingml/2006/main" prst="roundRect">
            <a:avLst>
              <a:gd name="adj" fmla="val 12000"/>
            </a:avLst>
          </a:prstGeom>
          <a:solidFill xmlns:a="http://schemas.openxmlformats.org/drawingml/2006/main">
            <a:srgbClr val="DCFCE7"/>
          </a:solidFill>
          <a:ln xmlns:a="http://schemas.openxmlformats.org/drawingml/2006/main" w="9525">
            <a:solidFill>
              <a:srgbClr val="BBF7D0"/>
            </a:solidFill>
          </a:ln>
        </p:spPr>
      </p:sp>
      <p:sp>
        <p:nvSpPr>
          <p:cNvPr id="36" name="">
            <a:extLst xmlns:a="http://schemas.openxmlformats.org/drawingml/2006/main">
              <a:ext uri="{FF2B5EF4-FFF2-40B4-BE49-F238E27FC236}">
                <a16:creationId xmlns:a16="http://schemas.microsoft.com/office/drawing/2014/main" id="{FAF4B7C4-CAFB-4BCC-B0EF-376F208ED492}"/>
              </a:ext>
            </a:extLst>
          </p:cNvPr>
          <p:cNvSpPr>
            <a:spLocks xmlns:a="http://schemas.openxmlformats.org/drawingml/2006/main" noGrp="1"/>
          </p:cNvSpPr>
          <p:nvPr/>
        </p:nvSpPr>
        <p:spPr>
          <a:xfrm xmlns:a="http://schemas.openxmlformats.org/drawingml/2006/main">
            <a:off x="1885950" y="4933950"/>
            <a:ext cx="1619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47857"/>
                </a:solidFill>
              </a:defRPr>
            </a:pPr>
            <a:r>
              <a:rPr sz="1350" b="1">
                <a:solidFill>
                  <a:srgbClr val="047857"/>
                </a:solidFill>
              </a:rPr>
              <a:t>Suggested prompt</a:t>
            </a:r>
          </a:p>
        </p:txBody>
      </p:sp>
      <p:sp>
        <p:nvSpPr>
          <p:cNvPr id="37" name="">
            <a:extLst xmlns:a="http://schemas.openxmlformats.org/drawingml/2006/main">
              <a:ext uri="{FF2B5EF4-FFF2-40B4-BE49-F238E27FC236}">
                <a16:creationId xmlns:a16="http://schemas.microsoft.com/office/drawing/2014/main" id="{2EB30907-27EA-4AC4-881C-C11E2F6A3B5E}"/>
              </a:ext>
            </a:extLst>
          </p:cNvPr>
          <p:cNvSpPr>
            <a:spLocks xmlns:a="http://schemas.openxmlformats.org/drawingml/2006/main" noGrp="1"/>
          </p:cNvSpPr>
          <p:nvPr/>
        </p:nvSpPr>
        <p:spPr>
          <a:xfrm xmlns:a="http://schemas.openxmlformats.org/drawingml/2006/main">
            <a:off x="3714750" y="4914900"/>
            <a:ext cx="619125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33"/>
                </a:solidFill>
              </a:defRPr>
            </a:pPr>
            <a:r>
              <a:rPr sz="1650" b="1">
                <a:solidFill>
                  <a:srgbClr val="172033"/>
                </a:solidFill>
              </a:rPr>
              <a:t>"I always get confused by fractions and prefer step-by-step explanations."</a:t>
            </a:r>
          </a:p>
        </p:txBody>
      </p:sp>
    </p:spTree>
    <p:extLst>
      <p:ext uri="{BB962C8B-B14F-4D97-AF65-F5344CB8AC3E}">
        <p14:creationId xmlns:p14="http://schemas.microsoft.com/office/powerpoint/2010/main" val="3772672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2BFD8DA-1C2E-499D-9BCB-7505A0F4BD23}"/>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0BB6945C-7E94-4BA8-9485-E94206AFF72B}"/>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7B4DE7E2-69FE-4D13-BC20-17DC4B53BD99}"/>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RESEARCH LENS</a:t>
            </a:r>
          </a:p>
        </p:txBody>
      </p:sp>
      <p:sp>
        <p:nvSpPr>
          <p:cNvPr id="5" name="">
            <a:extLst xmlns:a="http://schemas.openxmlformats.org/drawingml/2006/main">
              <a:ext uri="{FF2B5EF4-FFF2-40B4-BE49-F238E27FC236}">
                <a16:creationId xmlns:a16="http://schemas.microsoft.com/office/drawing/2014/main" id="{7B7AB378-A771-4380-91A3-D40CB67F7CD1}"/>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Evaluation Dashboard</a:t>
            </a:r>
          </a:p>
        </p:txBody>
      </p:sp>
      <p:sp>
        <p:nvSpPr>
          <p:cNvPr id="6" name="">
            <a:extLst xmlns:a="http://schemas.openxmlformats.org/drawingml/2006/main">
              <a:ext uri="{FF2B5EF4-FFF2-40B4-BE49-F238E27FC236}">
                <a16:creationId xmlns:a16="http://schemas.microsoft.com/office/drawing/2014/main" id="{9360BDE5-B875-4DAF-A8FC-006A10E7E607}"/>
              </a:ext>
            </a:extLst>
          </p:cNvPr>
          <p:cNvSpPr>
            <a:spLocks xmlns:a="http://schemas.openxmlformats.org/drawingml/2006/main" noGrp="1"/>
          </p:cNvSpPr>
          <p:nvPr/>
        </p:nvSpPr>
        <p:spPr>
          <a:xfrm xmlns:a="http://schemas.openxmlformats.org/drawingml/2006/main">
            <a:off x="666750" y="1809750"/>
            <a:ext cx="2381250" cy="1000125"/>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95924256-AED7-4C99-B175-30E301D2F6C0}"/>
              </a:ext>
            </a:extLst>
          </p:cNvPr>
          <p:cNvSpPr>
            <a:spLocks xmlns:a="http://schemas.openxmlformats.org/drawingml/2006/main" noGrp="1"/>
          </p:cNvSpPr>
          <p:nvPr/>
        </p:nvSpPr>
        <p:spPr>
          <a:xfrm xmlns:a="http://schemas.openxmlformats.org/drawingml/2006/main">
            <a:off x="876300" y="2038350"/>
            <a:ext cx="19431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43F5E"/>
                </a:solidFill>
              </a:defRPr>
            </a:pPr>
            <a:r>
              <a:rPr sz="1650" b="1">
                <a:solidFill>
                  <a:srgbClr val="F43F5E"/>
                </a:solidFill>
              </a:rPr>
              <a:t>no_memory</a:t>
            </a:r>
          </a:p>
        </p:txBody>
      </p:sp>
      <p:sp>
        <p:nvSpPr>
          <p:cNvPr id="8" name="">
            <a:extLst xmlns:a="http://schemas.openxmlformats.org/drawingml/2006/main">
              <a:ext uri="{FF2B5EF4-FFF2-40B4-BE49-F238E27FC236}">
                <a16:creationId xmlns:a16="http://schemas.microsoft.com/office/drawing/2014/main" id="{FE09B926-F3CE-4CF3-B201-C0E0C727889E}"/>
              </a:ext>
            </a:extLst>
          </p:cNvPr>
          <p:cNvSpPr>
            <a:spLocks xmlns:a="http://schemas.openxmlformats.org/drawingml/2006/main" noGrp="1"/>
          </p:cNvSpPr>
          <p:nvPr/>
        </p:nvSpPr>
        <p:spPr>
          <a:xfrm xmlns:a="http://schemas.openxmlformats.org/drawingml/2006/main">
            <a:off x="876300" y="2400300"/>
            <a:ext cx="19431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control</a:t>
            </a:r>
          </a:p>
        </p:txBody>
      </p:sp>
      <p:sp>
        <p:nvSpPr>
          <p:cNvPr id="9" name="">
            <a:extLst xmlns:a="http://schemas.openxmlformats.org/drawingml/2006/main">
              <a:ext uri="{FF2B5EF4-FFF2-40B4-BE49-F238E27FC236}">
                <a16:creationId xmlns:a16="http://schemas.microsoft.com/office/drawing/2014/main" id="{A23CA4AE-9E33-47F7-8FE4-1FA4FCF60550}"/>
              </a:ext>
            </a:extLst>
          </p:cNvPr>
          <p:cNvSpPr>
            <a:spLocks xmlns:a="http://schemas.openxmlformats.org/drawingml/2006/main" noGrp="1"/>
          </p:cNvSpPr>
          <p:nvPr/>
        </p:nvSpPr>
        <p:spPr>
          <a:xfrm xmlns:a="http://schemas.openxmlformats.org/drawingml/2006/main">
            <a:off x="3524250" y="1809750"/>
            <a:ext cx="2381250" cy="1000125"/>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10" name="">
            <a:extLst xmlns:a="http://schemas.openxmlformats.org/drawingml/2006/main">
              <a:ext uri="{FF2B5EF4-FFF2-40B4-BE49-F238E27FC236}">
                <a16:creationId xmlns:a16="http://schemas.microsoft.com/office/drawing/2014/main" id="{328C912E-4BAB-4DB3-B2C2-8EFBC003A846}"/>
              </a:ext>
            </a:extLst>
          </p:cNvPr>
          <p:cNvSpPr>
            <a:spLocks xmlns:a="http://schemas.openxmlformats.org/drawingml/2006/main" noGrp="1"/>
          </p:cNvSpPr>
          <p:nvPr/>
        </p:nvSpPr>
        <p:spPr>
          <a:xfrm xmlns:a="http://schemas.openxmlformats.org/drawingml/2006/main">
            <a:off x="3733800" y="2038350"/>
            <a:ext cx="19431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6B6D4"/>
                </a:solidFill>
              </a:defRPr>
            </a:pPr>
            <a:r>
              <a:rPr sz="1650" b="1">
                <a:solidFill>
                  <a:srgbClr val="06B6D4"/>
                </a:solidFill>
              </a:rPr>
              <a:t>naive_rag</a:t>
            </a:r>
          </a:p>
        </p:txBody>
      </p:sp>
      <p:sp>
        <p:nvSpPr>
          <p:cNvPr id="11" name="">
            <a:extLst xmlns:a="http://schemas.openxmlformats.org/drawingml/2006/main">
              <a:ext uri="{FF2B5EF4-FFF2-40B4-BE49-F238E27FC236}">
                <a16:creationId xmlns:a16="http://schemas.microsoft.com/office/drawing/2014/main" id="{D5C1D52A-6874-4A83-91C9-2BF3998D8217}"/>
              </a:ext>
            </a:extLst>
          </p:cNvPr>
          <p:cNvSpPr>
            <a:spLocks xmlns:a="http://schemas.openxmlformats.org/drawingml/2006/main" noGrp="1"/>
          </p:cNvSpPr>
          <p:nvPr/>
        </p:nvSpPr>
        <p:spPr>
          <a:xfrm xmlns:a="http://schemas.openxmlformats.org/drawingml/2006/main">
            <a:off x="3733800" y="2400300"/>
            <a:ext cx="19431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retrieval only</a:t>
            </a:r>
          </a:p>
        </p:txBody>
      </p:sp>
      <p:sp>
        <p:nvSpPr>
          <p:cNvPr id="12" name="">
            <a:extLst xmlns:a="http://schemas.openxmlformats.org/drawingml/2006/main">
              <a:ext uri="{FF2B5EF4-FFF2-40B4-BE49-F238E27FC236}">
                <a16:creationId xmlns:a16="http://schemas.microsoft.com/office/drawing/2014/main" id="{4179C338-10F2-4DFF-B0E0-8DF8BB7338E0}"/>
              </a:ext>
            </a:extLst>
          </p:cNvPr>
          <p:cNvSpPr>
            <a:spLocks xmlns:a="http://schemas.openxmlformats.org/drawingml/2006/main" noGrp="1"/>
          </p:cNvSpPr>
          <p:nvPr/>
        </p:nvSpPr>
        <p:spPr>
          <a:xfrm xmlns:a="http://schemas.openxmlformats.org/drawingml/2006/main">
            <a:off x="6381750" y="1809750"/>
            <a:ext cx="2381250" cy="1000125"/>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13" name="">
            <a:extLst xmlns:a="http://schemas.openxmlformats.org/drawingml/2006/main">
              <a:ext uri="{FF2B5EF4-FFF2-40B4-BE49-F238E27FC236}">
                <a16:creationId xmlns:a16="http://schemas.microsoft.com/office/drawing/2014/main" id="{B547D6F3-EC50-4B36-BF72-28F2DB3E1BF7}"/>
              </a:ext>
            </a:extLst>
          </p:cNvPr>
          <p:cNvSpPr>
            <a:spLocks xmlns:a="http://schemas.openxmlformats.org/drawingml/2006/main" noGrp="1"/>
          </p:cNvSpPr>
          <p:nvPr/>
        </p:nvSpPr>
        <p:spPr>
          <a:xfrm xmlns:a="http://schemas.openxmlformats.org/drawingml/2006/main">
            <a:off x="6591300" y="2038350"/>
            <a:ext cx="19431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59E0B"/>
                </a:solidFill>
              </a:defRPr>
            </a:pPr>
            <a:r>
              <a:rPr sz="1650" b="1">
                <a:solidFill>
                  <a:srgbClr val="F59E0B"/>
                </a:solidFill>
              </a:rPr>
              <a:t>lora_only</a:t>
            </a:r>
          </a:p>
        </p:txBody>
      </p:sp>
      <p:sp>
        <p:nvSpPr>
          <p:cNvPr id="14" name="">
            <a:extLst xmlns:a="http://schemas.openxmlformats.org/drawingml/2006/main">
              <a:ext uri="{FF2B5EF4-FFF2-40B4-BE49-F238E27FC236}">
                <a16:creationId xmlns:a16="http://schemas.microsoft.com/office/drawing/2014/main" id="{259192C1-C4BA-47CE-A564-8D44106D08C0}"/>
              </a:ext>
            </a:extLst>
          </p:cNvPr>
          <p:cNvSpPr>
            <a:spLocks xmlns:a="http://schemas.openxmlformats.org/drawingml/2006/main" noGrp="1"/>
          </p:cNvSpPr>
          <p:nvPr/>
        </p:nvSpPr>
        <p:spPr>
          <a:xfrm xmlns:a="http://schemas.openxmlformats.org/drawingml/2006/main">
            <a:off x="6591300" y="2400300"/>
            <a:ext cx="19431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profile only</a:t>
            </a:r>
          </a:p>
        </p:txBody>
      </p:sp>
      <p:sp>
        <p:nvSpPr>
          <p:cNvPr id="15" name="">
            <a:extLst xmlns:a="http://schemas.openxmlformats.org/drawingml/2006/main">
              <a:ext uri="{FF2B5EF4-FFF2-40B4-BE49-F238E27FC236}">
                <a16:creationId xmlns:a16="http://schemas.microsoft.com/office/drawing/2014/main" id="{D12EFBFD-D815-45FC-A67F-53929CCC97FA}"/>
              </a:ext>
            </a:extLst>
          </p:cNvPr>
          <p:cNvSpPr>
            <a:spLocks xmlns:a="http://schemas.openxmlformats.org/drawingml/2006/main" noGrp="1"/>
          </p:cNvSpPr>
          <p:nvPr/>
        </p:nvSpPr>
        <p:spPr>
          <a:xfrm xmlns:a="http://schemas.openxmlformats.org/drawingml/2006/main">
            <a:off x="9239250" y="1809750"/>
            <a:ext cx="2381250" cy="1000125"/>
          </a:xfrm>
          <a:prstGeom xmlns:a="http://schemas.openxmlformats.org/drawingml/2006/main" prst="roundRect">
            <a:avLst>
              <a:gd name="adj" fmla="val 12000"/>
            </a:avLst>
          </a:prstGeom>
          <a:solidFill xmlns:a="http://schemas.openxmlformats.org/drawingml/2006/main">
            <a:srgbClr val="FFFFFF">
              <a:alpha val="90196"/>
            </a:srgbClr>
          </a:solidFill>
          <a:ln xmlns:a="http://schemas.openxmlformats.org/drawingml/2006/main" w="9525">
            <a:solidFill>
              <a:srgbClr val="DDE4F0"/>
            </a:solidFill>
          </a:ln>
        </p:spPr>
      </p:sp>
      <p:sp>
        <p:nvSpPr>
          <p:cNvPr id="16" name="">
            <a:extLst xmlns:a="http://schemas.openxmlformats.org/drawingml/2006/main">
              <a:ext uri="{FF2B5EF4-FFF2-40B4-BE49-F238E27FC236}">
                <a16:creationId xmlns:a16="http://schemas.microsoft.com/office/drawing/2014/main" id="{BB33052E-4FC0-4813-87E7-613FB44C863D}"/>
              </a:ext>
            </a:extLst>
          </p:cNvPr>
          <p:cNvSpPr>
            <a:spLocks xmlns:a="http://schemas.openxmlformats.org/drawingml/2006/main" noGrp="1"/>
          </p:cNvSpPr>
          <p:nvPr/>
        </p:nvSpPr>
        <p:spPr>
          <a:xfrm xmlns:a="http://schemas.openxmlformats.org/drawingml/2006/main">
            <a:off x="9448800" y="2038350"/>
            <a:ext cx="19431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B981"/>
                </a:solidFill>
              </a:defRPr>
            </a:pPr>
            <a:r>
              <a:rPr sz="1650" b="1">
                <a:solidFill>
                  <a:srgbClr val="10B981"/>
                </a:solidFill>
              </a:rPr>
              <a:t>hybrid_memory</a:t>
            </a:r>
          </a:p>
        </p:txBody>
      </p:sp>
      <p:sp>
        <p:nvSpPr>
          <p:cNvPr id="17" name="">
            <a:extLst xmlns:a="http://schemas.openxmlformats.org/drawingml/2006/main">
              <a:ext uri="{FF2B5EF4-FFF2-40B4-BE49-F238E27FC236}">
                <a16:creationId xmlns:a16="http://schemas.microsoft.com/office/drawing/2014/main" id="{A5E7E8FE-764E-434A-A75A-99C3B13976BC}"/>
              </a:ext>
            </a:extLst>
          </p:cNvPr>
          <p:cNvSpPr>
            <a:spLocks xmlns:a="http://schemas.openxmlformats.org/drawingml/2006/main" noGrp="1"/>
          </p:cNvSpPr>
          <p:nvPr/>
        </p:nvSpPr>
        <p:spPr>
          <a:xfrm xmlns:a="http://schemas.openxmlformats.org/drawingml/2006/main">
            <a:off x="9448800" y="2400300"/>
            <a:ext cx="19431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profile + vector</a:t>
            </a:r>
          </a:p>
        </p:txBody>
      </p:sp>
      <p:sp>
        <p:nvSpPr>
          <p:cNvPr id="18" name="">
            <a:extLst xmlns:a="http://schemas.openxmlformats.org/drawingml/2006/main">
              <a:ext uri="{FF2B5EF4-FFF2-40B4-BE49-F238E27FC236}">
                <a16:creationId xmlns:a16="http://schemas.microsoft.com/office/drawing/2014/main" id="{EFE6653F-AE3B-460A-9CB0-C5EA7D198DB3}"/>
              </a:ext>
            </a:extLst>
          </p:cNvPr>
          <p:cNvSpPr>
            <a:spLocks xmlns:a="http://schemas.openxmlformats.org/drawingml/2006/main" noGrp="1"/>
          </p:cNvSpPr>
          <p:nvPr/>
        </p:nvSpPr>
        <p:spPr>
          <a:xfrm xmlns:a="http://schemas.openxmlformats.org/drawingml/2006/main">
            <a:off x="1066800" y="369570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9" name="">
            <a:extLst xmlns:a="http://schemas.openxmlformats.org/drawingml/2006/main">
              <a:ext uri="{FF2B5EF4-FFF2-40B4-BE49-F238E27FC236}">
                <a16:creationId xmlns:a16="http://schemas.microsoft.com/office/drawing/2014/main" id="{19EC5D11-614A-4DDE-A712-918B4F3A1BAE}"/>
              </a:ext>
            </a:extLst>
          </p:cNvPr>
          <p:cNvSpPr>
            <a:spLocks xmlns:a="http://schemas.openxmlformats.org/drawingml/2006/main" noGrp="1"/>
          </p:cNvSpPr>
          <p:nvPr/>
        </p:nvSpPr>
        <p:spPr>
          <a:xfrm xmlns:a="http://schemas.openxmlformats.org/drawingml/2006/main">
            <a:off x="1428750" y="360045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memory precision</a:t>
            </a:r>
          </a:p>
        </p:txBody>
      </p:sp>
      <p:sp>
        <p:nvSpPr>
          <p:cNvPr id="20" name="">
            <a:extLst xmlns:a="http://schemas.openxmlformats.org/drawingml/2006/main">
              <a:ext uri="{FF2B5EF4-FFF2-40B4-BE49-F238E27FC236}">
                <a16:creationId xmlns:a16="http://schemas.microsoft.com/office/drawing/2014/main" id="{BB6440AC-30D6-4FB4-AB53-0C3EDE566A95}"/>
              </a:ext>
            </a:extLst>
          </p:cNvPr>
          <p:cNvSpPr>
            <a:spLocks xmlns:a="http://schemas.openxmlformats.org/drawingml/2006/main" noGrp="1"/>
          </p:cNvSpPr>
          <p:nvPr/>
        </p:nvSpPr>
        <p:spPr>
          <a:xfrm xmlns:a="http://schemas.openxmlformats.org/drawingml/2006/main">
            <a:off x="1428750" y="388620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Are stored facts useful?</a:t>
            </a:r>
          </a:p>
        </p:txBody>
      </p:sp>
      <p:sp>
        <p:nvSpPr>
          <p:cNvPr id="21" name="">
            <a:extLst xmlns:a="http://schemas.openxmlformats.org/drawingml/2006/main">
              <a:ext uri="{FF2B5EF4-FFF2-40B4-BE49-F238E27FC236}">
                <a16:creationId xmlns:a16="http://schemas.microsoft.com/office/drawing/2014/main" id="{32A3D416-5C31-4C33-9751-2D3BF9CFEB7C}"/>
              </a:ext>
            </a:extLst>
          </p:cNvPr>
          <p:cNvSpPr>
            <a:spLocks xmlns:a="http://schemas.openxmlformats.org/drawingml/2006/main" noGrp="1"/>
          </p:cNvSpPr>
          <p:nvPr/>
        </p:nvSpPr>
        <p:spPr>
          <a:xfrm xmlns:a="http://schemas.openxmlformats.org/drawingml/2006/main">
            <a:off x="4495800" y="369570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22" name="">
            <a:extLst xmlns:a="http://schemas.openxmlformats.org/drawingml/2006/main">
              <a:ext uri="{FF2B5EF4-FFF2-40B4-BE49-F238E27FC236}">
                <a16:creationId xmlns:a16="http://schemas.microsoft.com/office/drawing/2014/main" id="{D49C7D2F-9101-4E49-83CD-872D9BC1F498}"/>
              </a:ext>
            </a:extLst>
          </p:cNvPr>
          <p:cNvSpPr>
            <a:spLocks xmlns:a="http://schemas.openxmlformats.org/drawingml/2006/main" noGrp="1"/>
          </p:cNvSpPr>
          <p:nvPr/>
        </p:nvSpPr>
        <p:spPr>
          <a:xfrm xmlns:a="http://schemas.openxmlformats.org/drawingml/2006/main">
            <a:off x="4857750" y="360045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memory recall</a:t>
            </a:r>
          </a:p>
        </p:txBody>
      </p:sp>
      <p:sp>
        <p:nvSpPr>
          <p:cNvPr id="23" name="">
            <a:extLst xmlns:a="http://schemas.openxmlformats.org/drawingml/2006/main">
              <a:ext uri="{FF2B5EF4-FFF2-40B4-BE49-F238E27FC236}">
                <a16:creationId xmlns:a16="http://schemas.microsoft.com/office/drawing/2014/main" id="{CF7814C0-9B28-46D8-B8C6-1A54E588E506}"/>
              </a:ext>
            </a:extLst>
          </p:cNvPr>
          <p:cNvSpPr>
            <a:spLocks xmlns:a="http://schemas.openxmlformats.org/drawingml/2006/main" noGrp="1"/>
          </p:cNvSpPr>
          <p:nvPr/>
        </p:nvSpPr>
        <p:spPr>
          <a:xfrm xmlns:a="http://schemas.openxmlformats.org/drawingml/2006/main">
            <a:off x="4857750" y="388620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Did it remember key facts?</a:t>
            </a:r>
          </a:p>
        </p:txBody>
      </p:sp>
      <p:sp>
        <p:nvSpPr>
          <p:cNvPr id="24" name="">
            <a:extLst xmlns:a="http://schemas.openxmlformats.org/drawingml/2006/main">
              <a:ext uri="{FF2B5EF4-FFF2-40B4-BE49-F238E27FC236}">
                <a16:creationId xmlns:a16="http://schemas.microsoft.com/office/drawing/2014/main" id="{F64E2739-5CDF-49A5-A986-D742836A94D0}"/>
              </a:ext>
            </a:extLst>
          </p:cNvPr>
          <p:cNvSpPr>
            <a:spLocks xmlns:a="http://schemas.openxmlformats.org/drawingml/2006/main" noGrp="1"/>
          </p:cNvSpPr>
          <p:nvPr/>
        </p:nvSpPr>
        <p:spPr>
          <a:xfrm xmlns:a="http://schemas.openxmlformats.org/drawingml/2006/main">
            <a:off x="7924800" y="369570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25" name="">
            <a:extLst xmlns:a="http://schemas.openxmlformats.org/drawingml/2006/main">
              <a:ext uri="{FF2B5EF4-FFF2-40B4-BE49-F238E27FC236}">
                <a16:creationId xmlns:a16="http://schemas.microsoft.com/office/drawing/2014/main" id="{14116230-B156-4EA7-BBA9-19B24F5FC542}"/>
              </a:ext>
            </a:extLst>
          </p:cNvPr>
          <p:cNvSpPr>
            <a:spLocks xmlns:a="http://schemas.openxmlformats.org/drawingml/2006/main" noGrp="1"/>
          </p:cNvSpPr>
          <p:nvPr/>
        </p:nvSpPr>
        <p:spPr>
          <a:xfrm xmlns:a="http://schemas.openxmlformats.org/drawingml/2006/main">
            <a:off x="8286750" y="360045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personalization</a:t>
            </a:r>
          </a:p>
        </p:txBody>
      </p:sp>
      <p:sp>
        <p:nvSpPr>
          <p:cNvPr id="26" name="">
            <a:extLst xmlns:a="http://schemas.openxmlformats.org/drawingml/2006/main">
              <a:ext uri="{FF2B5EF4-FFF2-40B4-BE49-F238E27FC236}">
                <a16:creationId xmlns:a16="http://schemas.microsoft.com/office/drawing/2014/main" id="{DB4250B4-6877-4B57-9311-312A5A300E8D}"/>
              </a:ext>
            </a:extLst>
          </p:cNvPr>
          <p:cNvSpPr>
            <a:spLocks xmlns:a="http://schemas.openxmlformats.org/drawingml/2006/main" noGrp="1"/>
          </p:cNvSpPr>
          <p:nvPr/>
        </p:nvSpPr>
        <p:spPr>
          <a:xfrm xmlns:a="http://schemas.openxmlformats.org/drawingml/2006/main">
            <a:off x="8286750" y="388620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Does response fit learner?</a:t>
            </a:r>
          </a:p>
        </p:txBody>
      </p:sp>
      <p:sp>
        <p:nvSpPr>
          <p:cNvPr id="27" name="">
            <a:extLst xmlns:a="http://schemas.openxmlformats.org/drawingml/2006/main">
              <a:ext uri="{FF2B5EF4-FFF2-40B4-BE49-F238E27FC236}">
                <a16:creationId xmlns:a16="http://schemas.microsoft.com/office/drawing/2014/main" id="{7505F489-E44B-48FD-893D-BC31FFE6C05A}"/>
              </a:ext>
            </a:extLst>
          </p:cNvPr>
          <p:cNvSpPr>
            <a:spLocks xmlns:a="http://schemas.openxmlformats.org/drawingml/2006/main" noGrp="1"/>
          </p:cNvSpPr>
          <p:nvPr/>
        </p:nvSpPr>
        <p:spPr>
          <a:xfrm xmlns:a="http://schemas.openxmlformats.org/drawingml/2006/main">
            <a:off x="1066800" y="455295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28" name="">
            <a:extLst xmlns:a="http://schemas.openxmlformats.org/drawingml/2006/main">
              <a:ext uri="{FF2B5EF4-FFF2-40B4-BE49-F238E27FC236}">
                <a16:creationId xmlns:a16="http://schemas.microsoft.com/office/drawing/2014/main" id="{6D9062D3-7E8E-48B8-95EE-FBF7B5508126}"/>
              </a:ext>
            </a:extLst>
          </p:cNvPr>
          <p:cNvSpPr>
            <a:spLocks xmlns:a="http://schemas.openxmlformats.org/drawingml/2006/main" noGrp="1"/>
          </p:cNvSpPr>
          <p:nvPr/>
        </p:nvSpPr>
        <p:spPr>
          <a:xfrm xmlns:a="http://schemas.openxmlformats.org/drawingml/2006/main">
            <a:off x="1428750" y="445770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forgetting leakage</a:t>
            </a:r>
          </a:p>
        </p:txBody>
      </p:sp>
      <p:sp>
        <p:nvSpPr>
          <p:cNvPr id="29" name="">
            <a:extLst xmlns:a="http://schemas.openxmlformats.org/drawingml/2006/main">
              <a:ext uri="{FF2B5EF4-FFF2-40B4-BE49-F238E27FC236}">
                <a16:creationId xmlns:a16="http://schemas.microsoft.com/office/drawing/2014/main" id="{445A222F-CE11-4C9E-B2DC-CF61C8F8E4A5}"/>
              </a:ext>
            </a:extLst>
          </p:cNvPr>
          <p:cNvSpPr>
            <a:spLocks xmlns:a="http://schemas.openxmlformats.org/drawingml/2006/main" noGrp="1"/>
          </p:cNvSpPr>
          <p:nvPr/>
        </p:nvSpPr>
        <p:spPr>
          <a:xfrm xmlns:a="http://schemas.openxmlformats.org/drawingml/2006/main">
            <a:off x="1428750" y="474345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Does deletion stay deleted?</a:t>
            </a:r>
          </a:p>
        </p:txBody>
      </p:sp>
      <p:sp>
        <p:nvSpPr>
          <p:cNvPr id="30" name="">
            <a:extLst xmlns:a="http://schemas.openxmlformats.org/drawingml/2006/main">
              <a:ext uri="{FF2B5EF4-FFF2-40B4-BE49-F238E27FC236}">
                <a16:creationId xmlns:a16="http://schemas.microsoft.com/office/drawing/2014/main" id="{1CEC2DBB-FD74-4C72-A432-20A35331B4C9}"/>
              </a:ext>
            </a:extLst>
          </p:cNvPr>
          <p:cNvSpPr>
            <a:spLocks xmlns:a="http://schemas.openxmlformats.org/drawingml/2006/main" noGrp="1"/>
          </p:cNvSpPr>
          <p:nvPr/>
        </p:nvSpPr>
        <p:spPr>
          <a:xfrm xmlns:a="http://schemas.openxmlformats.org/drawingml/2006/main">
            <a:off x="4495800" y="455295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31" name="">
            <a:extLst xmlns:a="http://schemas.openxmlformats.org/drawingml/2006/main">
              <a:ext uri="{FF2B5EF4-FFF2-40B4-BE49-F238E27FC236}">
                <a16:creationId xmlns:a16="http://schemas.microsoft.com/office/drawing/2014/main" id="{9B9E9B4E-25F4-4E1C-B88E-26A9966A0F65}"/>
              </a:ext>
            </a:extLst>
          </p:cNvPr>
          <p:cNvSpPr>
            <a:spLocks xmlns:a="http://schemas.openxmlformats.org/drawingml/2006/main" noGrp="1"/>
          </p:cNvSpPr>
          <p:nvPr/>
        </p:nvSpPr>
        <p:spPr>
          <a:xfrm xmlns:a="http://schemas.openxmlformats.org/drawingml/2006/main">
            <a:off x="4857750" y="445770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latency + tokens</a:t>
            </a:r>
          </a:p>
        </p:txBody>
      </p:sp>
      <p:sp>
        <p:nvSpPr>
          <p:cNvPr id="32" name="">
            <a:extLst xmlns:a="http://schemas.openxmlformats.org/drawingml/2006/main">
              <a:ext uri="{FF2B5EF4-FFF2-40B4-BE49-F238E27FC236}">
                <a16:creationId xmlns:a16="http://schemas.microsoft.com/office/drawing/2014/main" id="{03B61D0A-235E-4FEC-9369-3F5FF63DF684}"/>
              </a:ext>
            </a:extLst>
          </p:cNvPr>
          <p:cNvSpPr>
            <a:spLocks xmlns:a="http://schemas.openxmlformats.org/drawingml/2006/main" noGrp="1"/>
          </p:cNvSpPr>
          <p:nvPr/>
        </p:nvSpPr>
        <p:spPr>
          <a:xfrm xmlns:a="http://schemas.openxmlformats.org/drawingml/2006/main">
            <a:off x="4857750" y="474345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How efficient is it?</a:t>
            </a:r>
          </a:p>
        </p:txBody>
      </p:sp>
      <p:sp>
        <p:nvSpPr>
          <p:cNvPr id="33" name="">
            <a:extLst xmlns:a="http://schemas.openxmlformats.org/drawingml/2006/main">
              <a:ext uri="{FF2B5EF4-FFF2-40B4-BE49-F238E27FC236}">
                <a16:creationId xmlns:a16="http://schemas.microsoft.com/office/drawing/2014/main" id="{7FDFA0CE-FB19-4A54-9219-614B58D24C39}"/>
              </a:ext>
            </a:extLst>
          </p:cNvPr>
          <p:cNvSpPr>
            <a:spLocks xmlns:a="http://schemas.openxmlformats.org/drawingml/2006/main" noGrp="1"/>
          </p:cNvSpPr>
          <p:nvPr/>
        </p:nvSpPr>
        <p:spPr>
          <a:xfrm xmlns:a="http://schemas.openxmlformats.org/drawingml/2006/main">
            <a:off x="7924800" y="4552950"/>
            <a:ext cx="209550" cy="2095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34" name="">
            <a:extLst xmlns:a="http://schemas.openxmlformats.org/drawingml/2006/main">
              <a:ext uri="{FF2B5EF4-FFF2-40B4-BE49-F238E27FC236}">
                <a16:creationId xmlns:a16="http://schemas.microsoft.com/office/drawing/2014/main" id="{84E89225-71FD-4FDD-99EB-A1D2958A4864}"/>
              </a:ext>
            </a:extLst>
          </p:cNvPr>
          <p:cNvSpPr>
            <a:spLocks xmlns:a="http://schemas.openxmlformats.org/drawingml/2006/main" noGrp="1"/>
          </p:cNvSpPr>
          <p:nvPr/>
        </p:nvSpPr>
        <p:spPr>
          <a:xfrm xmlns:a="http://schemas.openxmlformats.org/drawingml/2006/main">
            <a:off x="8286750" y="4457700"/>
            <a:ext cx="2286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72033"/>
                </a:solidFill>
              </a:defRPr>
            </a:pPr>
            <a:r>
              <a:rPr sz="1500" b="1">
                <a:solidFill>
                  <a:srgbClr val="172033"/>
                </a:solidFill>
              </a:rPr>
              <a:t>storage growth</a:t>
            </a:r>
          </a:p>
        </p:txBody>
      </p:sp>
      <p:sp>
        <p:nvSpPr>
          <p:cNvPr id="35" name="">
            <a:extLst xmlns:a="http://schemas.openxmlformats.org/drawingml/2006/main">
              <a:ext uri="{FF2B5EF4-FFF2-40B4-BE49-F238E27FC236}">
                <a16:creationId xmlns:a16="http://schemas.microsoft.com/office/drawing/2014/main" id="{45AB3AB6-39CB-4DBD-814E-FA457A312CDB}"/>
              </a:ext>
            </a:extLst>
          </p:cNvPr>
          <p:cNvSpPr>
            <a:spLocks xmlns:a="http://schemas.openxmlformats.org/drawingml/2006/main" noGrp="1"/>
          </p:cNvSpPr>
          <p:nvPr/>
        </p:nvSpPr>
        <p:spPr>
          <a:xfrm xmlns:a="http://schemas.openxmlformats.org/drawingml/2006/main">
            <a:off x="8286750" y="4743450"/>
            <a:ext cx="23812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defRPr>
            </a:pPr>
            <a:r>
              <a:rPr sz="1125" b="0">
                <a:solidFill>
                  <a:srgbClr val="64748B"/>
                </a:solidFill>
              </a:rPr>
              <a:t>Does memory stay manageable?</a:t>
            </a:r>
          </a:p>
        </p:txBody>
      </p:sp>
    </p:spTree>
    <p:extLst>
      <p:ext uri="{BB962C8B-B14F-4D97-AF65-F5344CB8AC3E}">
        <p14:creationId xmlns:p14="http://schemas.microsoft.com/office/powerpoint/2010/main" val="108737638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3E10BD1C-CC8F-41FF-93EF-0236AF1EE835}"/>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0A24C235-7B1A-47A0-BDB1-3E3FE3F4B92E}"/>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5274A7D4-F6C4-46A9-A446-25103A8F9B07}"/>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FULL-STACK MVP</a:t>
            </a:r>
          </a:p>
        </p:txBody>
      </p:sp>
      <p:sp>
        <p:nvSpPr>
          <p:cNvPr id="5" name="">
            <a:extLst xmlns:a="http://schemas.openxmlformats.org/drawingml/2006/main">
              <a:ext uri="{FF2B5EF4-FFF2-40B4-BE49-F238E27FC236}">
                <a16:creationId xmlns:a16="http://schemas.microsoft.com/office/drawing/2014/main" id="{57FF572F-F36B-4C85-B628-DFCE62E2FDCC}"/>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What Was Implemented</a:t>
            </a:r>
          </a:p>
        </p:txBody>
      </p:sp>
      <p:sp>
        <p:nvSpPr>
          <p:cNvPr id="6" name="">
            <a:extLst xmlns:a="http://schemas.openxmlformats.org/drawingml/2006/main">
              <a:ext uri="{FF2B5EF4-FFF2-40B4-BE49-F238E27FC236}">
                <a16:creationId xmlns:a16="http://schemas.microsoft.com/office/drawing/2014/main" id="{D827199F-14FA-4C64-91D0-563CE3C41C01}"/>
              </a:ext>
            </a:extLst>
          </p:cNvPr>
          <p:cNvSpPr>
            <a:spLocks xmlns:a="http://schemas.openxmlformats.org/drawingml/2006/main" noGrp="1"/>
          </p:cNvSpPr>
          <p:nvPr/>
        </p:nvSpPr>
        <p:spPr>
          <a:xfrm xmlns:a="http://schemas.openxmlformats.org/drawingml/2006/main">
            <a:off x="666750" y="1752600"/>
            <a:ext cx="2381250" cy="3619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8C288E96-4533-4975-B054-9305F15EFB1E}"/>
              </a:ext>
            </a:extLst>
          </p:cNvPr>
          <p:cNvSpPr>
            <a:spLocks xmlns:a="http://schemas.openxmlformats.org/drawingml/2006/main" noGrp="1"/>
          </p:cNvSpPr>
          <p:nvPr/>
        </p:nvSpPr>
        <p:spPr>
          <a:xfrm xmlns:a="http://schemas.openxmlformats.org/drawingml/2006/main">
            <a:off x="876300" y="2038350"/>
            <a:ext cx="192405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4F46E5"/>
                </a:solidFill>
              </a:defRPr>
            </a:pPr>
            <a:r>
              <a:rPr sz="1800" b="1">
                <a:solidFill>
                  <a:srgbClr val="4F46E5"/>
                </a:solidFill>
              </a:rPr>
              <a:t>Frontend</a:t>
            </a:r>
          </a:p>
        </p:txBody>
      </p:sp>
      <p:sp>
        <p:nvSpPr>
          <p:cNvPr id="8" name="">
            <a:extLst xmlns:a="http://schemas.openxmlformats.org/drawingml/2006/main">
              <a:ext uri="{FF2B5EF4-FFF2-40B4-BE49-F238E27FC236}">
                <a16:creationId xmlns:a16="http://schemas.microsoft.com/office/drawing/2014/main" id="{98B54639-4D29-4271-A803-C04C57D1051F}"/>
              </a:ext>
            </a:extLst>
          </p:cNvPr>
          <p:cNvSpPr>
            <a:spLocks xmlns:a="http://schemas.openxmlformats.org/drawingml/2006/main" noGrp="1"/>
          </p:cNvSpPr>
          <p:nvPr/>
        </p:nvSpPr>
        <p:spPr>
          <a:xfrm xmlns:a="http://schemas.openxmlformats.org/drawingml/2006/main">
            <a:off x="933450" y="2705100"/>
            <a:ext cx="133350" cy="133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9" name="">
            <a:extLst xmlns:a="http://schemas.openxmlformats.org/drawingml/2006/main">
              <a:ext uri="{FF2B5EF4-FFF2-40B4-BE49-F238E27FC236}">
                <a16:creationId xmlns:a16="http://schemas.microsoft.com/office/drawing/2014/main" id="{228BD015-9F39-49C6-9739-97BAC2FE6C35}"/>
              </a:ext>
            </a:extLst>
          </p:cNvPr>
          <p:cNvSpPr>
            <a:spLocks xmlns:a="http://schemas.openxmlformats.org/drawingml/2006/main" noGrp="1"/>
          </p:cNvSpPr>
          <p:nvPr/>
        </p:nvSpPr>
        <p:spPr>
          <a:xfrm xmlns:a="http://schemas.openxmlformats.org/drawingml/2006/main">
            <a:off x="1200150" y="26289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React + Vite</a:t>
            </a:r>
          </a:p>
        </p:txBody>
      </p:sp>
      <p:sp>
        <p:nvSpPr>
          <p:cNvPr id="10" name="">
            <a:extLst xmlns:a="http://schemas.openxmlformats.org/drawingml/2006/main">
              <a:ext uri="{FF2B5EF4-FFF2-40B4-BE49-F238E27FC236}">
                <a16:creationId xmlns:a16="http://schemas.microsoft.com/office/drawing/2014/main" id="{6CB40046-5E82-4C03-9BB0-74FBB3FBABA3}"/>
              </a:ext>
            </a:extLst>
          </p:cNvPr>
          <p:cNvSpPr>
            <a:spLocks xmlns:a="http://schemas.openxmlformats.org/drawingml/2006/main" noGrp="1"/>
          </p:cNvSpPr>
          <p:nvPr/>
        </p:nvSpPr>
        <p:spPr>
          <a:xfrm xmlns:a="http://schemas.openxmlformats.org/drawingml/2006/main">
            <a:off x="933450" y="3238500"/>
            <a:ext cx="133350" cy="133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1" name="">
            <a:extLst xmlns:a="http://schemas.openxmlformats.org/drawingml/2006/main">
              <a:ext uri="{FF2B5EF4-FFF2-40B4-BE49-F238E27FC236}">
                <a16:creationId xmlns:a16="http://schemas.microsoft.com/office/drawing/2014/main" id="{6E1992DC-E88F-48D6-87D1-D5BD9830226E}"/>
              </a:ext>
            </a:extLst>
          </p:cNvPr>
          <p:cNvSpPr>
            <a:spLocks xmlns:a="http://schemas.openxmlformats.org/drawingml/2006/main" noGrp="1"/>
          </p:cNvSpPr>
          <p:nvPr/>
        </p:nvSpPr>
        <p:spPr>
          <a:xfrm xmlns:a="http://schemas.openxmlformats.org/drawingml/2006/main">
            <a:off x="1200150" y="31623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Protected routes</a:t>
            </a:r>
          </a:p>
        </p:txBody>
      </p:sp>
      <p:sp>
        <p:nvSpPr>
          <p:cNvPr id="12" name="">
            <a:extLst xmlns:a="http://schemas.openxmlformats.org/drawingml/2006/main">
              <a:ext uri="{FF2B5EF4-FFF2-40B4-BE49-F238E27FC236}">
                <a16:creationId xmlns:a16="http://schemas.microsoft.com/office/drawing/2014/main" id="{67132D7C-F804-4BBB-ABB5-B67A01735267}"/>
              </a:ext>
            </a:extLst>
          </p:cNvPr>
          <p:cNvSpPr>
            <a:spLocks xmlns:a="http://schemas.openxmlformats.org/drawingml/2006/main" noGrp="1"/>
          </p:cNvSpPr>
          <p:nvPr/>
        </p:nvSpPr>
        <p:spPr>
          <a:xfrm xmlns:a="http://schemas.openxmlformats.org/drawingml/2006/main">
            <a:off x="933450" y="3771900"/>
            <a:ext cx="133350" cy="133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3" name="">
            <a:extLst xmlns:a="http://schemas.openxmlformats.org/drawingml/2006/main">
              <a:ext uri="{FF2B5EF4-FFF2-40B4-BE49-F238E27FC236}">
                <a16:creationId xmlns:a16="http://schemas.microsoft.com/office/drawing/2014/main" id="{6FFCE873-9F8C-4ACE-A336-2134AE9C047C}"/>
              </a:ext>
            </a:extLst>
          </p:cNvPr>
          <p:cNvSpPr>
            <a:spLocks xmlns:a="http://schemas.openxmlformats.org/drawingml/2006/main" noGrp="1"/>
          </p:cNvSpPr>
          <p:nvPr/>
        </p:nvSpPr>
        <p:spPr>
          <a:xfrm xmlns:a="http://schemas.openxmlformats.org/drawingml/2006/main">
            <a:off x="1200150" y="36957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SaaS-style dashboard</a:t>
            </a:r>
          </a:p>
        </p:txBody>
      </p:sp>
      <p:sp>
        <p:nvSpPr>
          <p:cNvPr id="14" name="">
            <a:extLst xmlns:a="http://schemas.openxmlformats.org/drawingml/2006/main">
              <a:ext uri="{FF2B5EF4-FFF2-40B4-BE49-F238E27FC236}">
                <a16:creationId xmlns:a16="http://schemas.microsoft.com/office/drawing/2014/main" id="{59575146-1AA2-45EB-96C2-1BC572DCEB7F}"/>
              </a:ext>
            </a:extLst>
          </p:cNvPr>
          <p:cNvSpPr>
            <a:spLocks xmlns:a="http://schemas.openxmlformats.org/drawingml/2006/main" noGrp="1"/>
          </p:cNvSpPr>
          <p:nvPr/>
        </p:nvSpPr>
        <p:spPr>
          <a:xfrm xmlns:a="http://schemas.openxmlformats.org/drawingml/2006/main">
            <a:off x="933450" y="4305300"/>
            <a:ext cx="133350" cy="133350"/>
          </a:xfrm>
          <a:prstGeom xmlns:a="http://schemas.openxmlformats.org/drawingml/2006/main" prst="ellipse">
            <a:avLst/>
          </a:prstGeom>
          <a:solidFill xmlns:a="http://schemas.openxmlformats.org/drawingml/2006/main">
            <a:srgbClr val="4F46E5"/>
          </a:solidFill>
          <a:ln xmlns:a="http://schemas.openxmlformats.org/drawingml/2006/main" w="0">
            <a:solidFill>
              <a:srgbClr val="4F46E5"/>
            </a:solidFill>
          </a:ln>
        </p:spPr>
      </p:sp>
      <p:sp>
        <p:nvSpPr>
          <p:cNvPr id="15" name="">
            <a:extLst xmlns:a="http://schemas.openxmlformats.org/drawingml/2006/main">
              <a:ext uri="{FF2B5EF4-FFF2-40B4-BE49-F238E27FC236}">
                <a16:creationId xmlns:a16="http://schemas.microsoft.com/office/drawing/2014/main" id="{57075ED4-5E0D-4E0B-944C-9930F2A00C8A}"/>
              </a:ext>
            </a:extLst>
          </p:cNvPr>
          <p:cNvSpPr>
            <a:spLocks xmlns:a="http://schemas.openxmlformats.org/drawingml/2006/main" noGrp="1"/>
          </p:cNvSpPr>
          <p:nvPr/>
        </p:nvSpPr>
        <p:spPr>
          <a:xfrm xmlns:a="http://schemas.openxmlformats.org/drawingml/2006/main">
            <a:off x="1200150" y="42291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Memory/Profile/Progress UI</a:t>
            </a:r>
          </a:p>
        </p:txBody>
      </p:sp>
      <p:sp>
        <p:nvSpPr>
          <p:cNvPr id="16" name="">
            <a:extLst xmlns:a="http://schemas.openxmlformats.org/drawingml/2006/main">
              <a:ext uri="{FF2B5EF4-FFF2-40B4-BE49-F238E27FC236}">
                <a16:creationId xmlns:a16="http://schemas.microsoft.com/office/drawing/2014/main" id="{5C37B5BA-3963-4669-8242-ACEC73335027}"/>
              </a:ext>
            </a:extLst>
          </p:cNvPr>
          <p:cNvSpPr>
            <a:spLocks xmlns:a="http://schemas.openxmlformats.org/drawingml/2006/main" noGrp="1"/>
          </p:cNvSpPr>
          <p:nvPr/>
        </p:nvSpPr>
        <p:spPr>
          <a:xfrm xmlns:a="http://schemas.openxmlformats.org/drawingml/2006/main">
            <a:off x="3524250" y="1752600"/>
            <a:ext cx="2381250" cy="36195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17" name="">
            <a:extLst xmlns:a="http://schemas.openxmlformats.org/drawingml/2006/main">
              <a:ext uri="{FF2B5EF4-FFF2-40B4-BE49-F238E27FC236}">
                <a16:creationId xmlns:a16="http://schemas.microsoft.com/office/drawing/2014/main" id="{CBC2FEC5-60E0-4C84-A928-1D4CFC07C2B8}"/>
              </a:ext>
            </a:extLst>
          </p:cNvPr>
          <p:cNvSpPr>
            <a:spLocks xmlns:a="http://schemas.openxmlformats.org/drawingml/2006/main" noGrp="1"/>
          </p:cNvSpPr>
          <p:nvPr/>
        </p:nvSpPr>
        <p:spPr>
          <a:xfrm xmlns:a="http://schemas.openxmlformats.org/drawingml/2006/main">
            <a:off x="3733800" y="2038350"/>
            <a:ext cx="192405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7C3AED"/>
                </a:solidFill>
              </a:defRPr>
            </a:pPr>
            <a:r>
              <a:rPr sz="1800" b="1">
                <a:solidFill>
                  <a:srgbClr val="7C3AED"/>
                </a:solidFill>
              </a:rPr>
              <a:t>Backend</a:t>
            </a:r>
          </a:p>
        </p:txBody>
      </p:sp>
      <p:sp>
        <p:nvSpPr>
          <p:cNvPr id="18" name="">
            <a:extLst xmlns:a="http://schemas.openxmlformats.org/drawingml/2006/main">
              <a:ext uri="{FF2B5EF4-FFF2-40B4-BE49-F238E27FC236}">
                <a16:creationId xmlns:a16="http://schemas.microsoft.com/office/drawing/2014/main" id="{591A79AF-82A2-4F07-AC56-F838B8CF51CE}"/>
              </a:ext>
            </a:extLst>
          </p:cNvPr>
          <p:cNvSpPr>
            <a:spLocks xmlns:a="http://schemas.openxmlformats.org/drawingml/2006/main" noGrp="1"/>
          </p:cNvSpPr>
          <p:nvPr/>
        </p:nvSpPr>
        <p:spPr>
          <a:xfrm xmlns:a="http://schemas.openxmlformats.org/drawingml/2006/main">
            <a:off x="3790950" y="2705100"/>
            <a:ext cx="133350" cy="1333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19" name="">
            <a:extLst xmlns:a="http://schemas.openxmlformats.org/drawingml/2006/main">
              <a:ext uri="{FF2B5EF4-FFF2-40B4-BE49-F238E27FC236}">
                <a16:creationId xmlns:a16="http://schemas.microsoft.com/office/drawing/2014/main" id="{8FE5A3E4-0B8F-4DDC-8783-48B9D88FF322}"/>
              </a:ext>
            </a:extLst>
          </p:cNvPr>
          <p:cNvSpPr>
            <a:spLocks xmlns:a="http://schemas.openxmlformats.org/drawingml/2006/main" noGrp="1"/>
          </p:cNvSpPr>
          <p:nvPr/>
        </p:nvSpPr>
        <p:spPr>
          <a:xfrm xmlns:a="http://schemas.openxmlformats.org/drawingml/2006/main">
            <a:off x="4057650" y="26289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FastAPI</a:t>
            </a:r>
          </a:p>
        </p:txBody>
      </p:sp>
      <p:sp>
        <p:nvSpPr>
          <p:cNvPr id="20" name="">
            <a:extLst xmlns:a="http://schemas.openxmlformats.org/drawingml/2006/main">
              <a:ext uri="{FF2B5EF4-FFF2-40B4-BE49-F238E27FC236}">
                <a16:creationId xmlns:a16="http://schemas.microsoft.com/office/drawing/2014/main" id="{5A69909D-043B-4384-B179-22DB250CF694}"/>
              </a:ext>
            </a:extLst>
          </p:cNvPr>
          <p:cNvSpPr>
            <a:spLocks xmlns:a="http://schemas.openxmlformats.org/drawingml/2006/main" noGrp="1"/>
          </p:cNvSpPr>
          <p:nvPr/>
        </p:nvSpPr>
        <p:spPr>
          <a:xfrm xmlns:a="http://schemas.openxmlformats.org/drawingml/2006/main">
            <a:off x="3790950" y="3238500"/>
            <a:ext cx="133350" cy="1333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21" name="">
            <a:extLst xmlns:a="http://schemas.openxmlformats.org/drawingml/2006/main">
              <a:ext uri="{FF2B5EF4-FFF2-40B4-BE49-F238E27FC236}">
                <a16:creationId xmlns:a16="http://schemas.microsoft.com/office/drawing/2014/main" id="{8A9982E8-5B8A-456F-9A30-C29783FBB5CB}"/>
              </a:ext>
            </a:extLst>
          </p:cNvPr>
          <p:cNvSpPr>
            <a:spLocks xmlns:a="http://schemas.openxmlformats.org/drawingml/2006/main" noGrp="1"/>
          </p:cNvSpPr>
          <p:nvPr/>
        </p:nvSpPr>
        <p:spPr>
          <a:xfrm xmlns:a="http://schemas.openxmlformats.org/drawingml/2006/main">
            <a:off x="4057650" y="31623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SQLite + SQLAlchemy</a:t>
            </a:r>
          </a:p>
        </p:txBody>
      </p:sp>
      <p:sp>
        <p:nvSpPr>
          <p:cNvPr id="22" name="">
            <a:extLst xmlns:a="http://schemas.openxmlformats.org/drawingml/2006/main">
              <a:ext uri="{FF2B5EF4-FFF2-40B4-BE49-F238E27FC236}">
                <a16:creationId xmlns:a16="http://schemas.microsoft.com/office/drawing/2014/main" id="{35506560-DF1E-47BB-A64F-3EEBB35A8B4E}"/>
              </a:ext>
            </a:extLst>
          </p:cNvPr>
          <p:cNvSpPr>
            <a:spLocks xmlns:a="http://schemas.openxmlformats.org/drawingml/2006/main" noGrp="1"/>
          </p:cNvSpPr>
          <p:nvPr/>
        </p:nvSpPr>
        <p:spPr>
          <a:xfrm xmlns:a="http://schemas.openxmlformats.org/drawingml/2006/main">
            <a:off x="3790950" y="3771900"/>
            <a:ext cx="133350" cy="1333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23" name="">
            <a:extLst xmlns:a="http://schemas.openxmlformats.org/drawingml/2006/main">
              <a:ext uri="{FF2B5EF4-FFF2-40B4-BE49-F238E27FC236}">
                <a16:creationId xmlns:a16="http://schemas.microsoft.com/office/drawing/2014/main" id="{CDBF3AC2-74CC-4F8A-8F03-792E745A4E11}"/>
              </a:ext>
            </a:extLst>
          </p:cNvPr>
          <p:cNvSpPr>
            <a:spLocks xmlns:a="http://schemas.openxmlformats.org/drawingml/2006/main" noGrp="1"/>
          </p:cNvSpPr>
          <p:nvPr/>
        </p:nvSpPr>
        <p:spPr>
          <a:xfrm xmlns:a="http://schemas.openxmlformats.org/drawingml/2006/main">
            <a:off x="4057650" y="36957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JWT authentication</a:t>
            </a:r>
          </a:p>
        </p:txBody>
      </p:sp>
      <p:sp>
        <p:nvSpPr>
          <p:cNvPr id="24" name="">
            <a:extLst xmlns:a="http://schemas.openxmlformats.org/drawingml/2006/main">
              <a:ext uri="{FF2B5EF4-FFF2-40B4-BE49-F238E27FC236}">
                <a16:creationId xmlns:a16="http://schemas.microsoft.com/office/drawing/2014/main" id="{0473EFC0-3360-4AC7-969D-EFF5A42E981C}"/>
              </a:ext>
            </a:extLst>
          </p:cNvPr>
          <p:cNvSpPr>
            <a:spLocks xmlns:a="http://schemas.openxmlformats.org/drawingml/2006/main" noGrp="1"/>
          </p:cNvSpPr>
          <p:nvPr/>
        </p:nvSpPr>
        <p:spPr>
          <a:xfrm xmlns:a="http://schemas.openxmlformats.org/drawingml/2006/main">
            <a:off x="3790950" y="4305300"/>
            <a:ext cx="133350" cy="1333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25" name="">
            <a:extLst xmlns:a="http://schemas.openxmlformats.org/drawingml/2006/main">
              <a:ext uri="{FF2B5EF4-FFF2-40B4-BE49-F238E27FC236}">
                <a16:creationId xmlns:a16="http://schemas.microsoft.com/office/drawing/2014/main" id="{F616F92C-8EE1-4464-86C2-1DFB4426A49D}"/>
              </a:ext>
            </a:extLst>
          </p:cNvPr>
          <p:cNvSpPr>
            <a:spLocks xmlns:a="http://schemas.openxmlformats.org/drawingml/2006/main" noGrp="1"/>
          </p:cNvSpPr>
          <p:nvPr/>
        </p:nvSpPr>
        <p:spPr>
          <a:xfrm xmlns:a="http://schemas.openxmlformats.org/drawingml/2006/main">
            <a:off x="4057650" y="42291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Pydantic validation</a:t>
            </a:r>
          </a:p>
        </p:txBody>
      </p:sp>
      <p:sp>
        <p:nvSpPr>
          <p:cNvPr id="26" name="">
            <a:extLst xmlns:a="http://schemas.openxmlformats.org/drawingml/2006/main">
              <a:ext uri="{FF2B5EF4-FFF2-40B4-BE49-F238E27FC236}">
                <a16:creationId xmlns:a16="http://schemas.microsoft.com/office/drawing/2014/main" id="{004C460E-4B7B-4CBF-B503-266DC4B2DC59}"/>
              </a:ext>
            </a:extLst>
          </p:cNvPr>
          <p:cNvSpPr>
            <a:spLocks xmlns:a="http://schemas.openxmlformats.org/drawingml/2006/main" noGrp="1"/>
          </p:cNvSpPr>
          <p:nvPr/>
        </p:nvSpPr>
        <p:spPr>
          <a:xfrm xmlns:a="http://schemas.openxmlformats.org/drawingml/2006/main">
            <a:off x="6381750" y="1752600"/>
            <a:ext cx="2381250" cy="3619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27" name="">
            <a:extLst xmlns:a="http://schemas.openxmlformats.org/drawingml/2006/main">
              <a:ext uri="{FF2B5EF4-FFF2-40B4-BE49-F238E27FC236}">
                <a16:creationId xmlns:a16="http://schemas.microsoft.com/office/drawing/2014/main" id="{03CC3B39-77A9-46D6-97DD-0689A1920860}"/>
              </a:ext>
            </a:extLst>
          </p:cNvPr>
          <p:cNvSpPr>
            <a:spLocks xmlns:a="http://schemas.openxmlformats.org/drawingml/2006/main" noGrp="1"/>
          </p:cNvSpPr>
          <p:nvPr/>
        </p:nvSpPr>
        <p:spPr>
          <a:xfrm xmlns:a="http://schemas.openxmlformats.org/drawingml/2006/main">
            <a:off x="6591300" y="2038350"/>
            <a:ext cx="192405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B981"/>
                </a:solidFill>
              </a:defRPr>
            </a:pPr>
            <a:r>
              <a:rPr sz="1800" b="1">
                <a:solidFill>
                  <a:srgbClr val="10B981"/>
                </a:solidFill>
              </a:rPr>
              <a:t>Memory + Agents</a:t>
            </a:r>
          </a:p>
        </p:txBody>
      </p:sp>
      <p:sp>
        <p:nvSpPr>
          <p:cNvPr id="28" name="">
            <a:extLst xmlns:a="http://schemas.openxmlformats.org/drawingml/2006/main">
              <a:ext uri="{FF2B5EF4-FFF2-40B4-BE49-F238E27FC236}">
                <a16:creationId xmlns:a16="http://schemas.microsoft.com/office/drawing/2014/main" id="{09E65EDA-69F5-404A-B9F1-776786A6A4DA}"/>
              </a:ext>
            </a:extLst>
          </p:cNvPr>
          <p:cNvSpPr>
            <a:spLocks xmlns:a="http://schemas.openxmlformats.org/drawingml/2006/main" noGrp="1"/>
          </p:cNvSpPr>
          <p:nvPr/>
        </p:nvSpPr>
        <p:spPr>
          <a:xfrm xmlns:a="http://schemas.openxmlformats.org/drawingml/2006/main">
            <a:off x="6648450" y="27051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29" name="">
            <a:extLst xmlns:a="http://schemas.openxmlformats.org/drawingml/2006/main">
              <a:ext uri="{FF2B5EF4-FFF2-40B4-BE49-F238E27FC236}">
                <a16:creationId xmlns:a16="http://schemas.microsoft.com/office/drawing/2014/main" id="{DC8DCB31-E1E3-4478-A98A-26312850761F}"/>
              </a:ext>
            </a:extLst>
          </p:cNvPr>
          <p:cNvSpPr>
            <a:spLocks xmlns:a="http://schemas.openxmlformats.org/drawingml/2006/main" noGrp="1"/>
          </p:cNvSpPr>
          <p:nvPr/>
        </p:nvSpPr>
        <p:spPr>
          <a:xfrm xmlns:a="http://schemas.openxmlformats.org/drawingml/2006/main">
            <a:off x="6915150" y="26289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Tutor Agent</a:t>
            </a:r>
          </a:p>
        </p:txBody>
      </p:sp>
      <p:sp>
        <p:nvSpPr>
          <p:cNvPr id="30" name="">
            <a:extLst xmlns:a="http://schemas.openxmlformats.org/drawingml/2006/main">
              <a:ext uri="{FF2B5EF4-FFF2-40B4-BE49-F238E27FC236}">
                <a16:creationId xmlns:a16="http://schemas.microsoft.com/office/drawing/2014/main" id="{036F74F3-92C3-42B5-BD96-CB8F7512859C}"/>
              </a:ext>
            </a:extLst>
          </p:cNvPr>
          <p:cNvSpPr>
            <a:spLocks xmlns:a="http://schemas.openxmlformats.org/drawingml/2006/main" noGrp="1"/>
          </p:cNvSpPr>
          <p:nvPr/>
        </p:nvSpPr>
        <p:spPr>
          <a:xfrm xmlns:a="http://schemas.openxmlformats.org/drawingml/2006/main">
            <a:off x="6648450" y="32385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31" name="">
            <a:extLst xmlns:a="http://schemas.openxmlformats.org/drawingml/2006/main">
              <a:ext uri="{FF2B5EF4-FFF2-40B4-BE49-F238E27FC236}">
                <a16:creationId xmlns:a16="http://schemas.microsoft.com/office/drawing/2014/main" id="{466238C6-592F-407A-B500-9B91E6E83019}"/>
              </a:ext>
            </a:extLst>
          </p:cNvPr>
          <p:cNvSpPr>
            <a:spLocks xmlns:a="http://schemas.openxmlformats.org/drawingml/2006/main" noGrp="1"/>
          </p:cNvSpPr>
          <p:nvPr/>
        </p:nvSpPr>
        <p:spPr>
          <a:xfrm xmlns:a="http://schemas.openxmlformats.org/drawingml/2006/main">
            <a:off x="6915150" y="31623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Memory Manager</a:t>
            </a:r>
          </a:p>
        </p:txBody>
      </p:sp>
      <p:sp>
        <p:nvSpPr>
          <p:cNvPr id="32" name="">
            <a:extLst xmlns:a="http://schemas.openxmlformats.org/drawingml/2006/main">
              <a:ext uri="{FF2B5EF4-FFF2-40B4-BE49-F238E27FC236}">
                <a16:creationId xmlns:a16="http://schemas.microsoft.com/office/drawing/2014/main" id="{1EFDB726-5B24-4AA8-951E-A68BE3CEF9D0}"/>
              </a:ext>
            </a:extLst>
          </p:cNvPr>
          <p:cNvSpPr>
            <a:spLocks xmlns:a="http://schemas.openxmlformats.org/drawingml/2006/main" noGrp="1"/>
          </p:cNvSpPr>
          <p:nvPr/>
        </p:nvSpPr>
        <p:spPr>
          <a:xfrm xmlns:a="http://schemas.openxmlformats.org/drawingml/2006/main">
            <a:off x="6648450" y="37719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33" name="">
            <a:extLst xmlns:a="http://schemas.openxmlformats.org/drawingml/2006/main">
              <a:ext uri="{FF2B5EF4-FFF2-40B4-BE49-F238E27FC236}">
                <a16:creationId xmlns:a16="http://schemas.microsoft.com/office/drawing/2014/main" id="{ABC9F49E-D6CF-4978-AA99-0AA1F9732C4A}"/>
              </a:ext>
            </a:extLst>
          </p:cNvPr>
          <p:cNvSpPr>
            <a:spLocks xmlns:a="http://schemas.openxmlformats.org/drawingml/2006/main" noGrp="1"/>
          </p:cNvSpPr>
          <p:nvPr/>
        </p:nvSpPr>
        <p:spPr>
          <a:xfrm xmlns:a="http://schemas.openxmlformats.org/drawingml/2006/main">
            <a:off x="6915150" y="36957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ChromaDB vector store</a:t>
            </a:r>
          </a:p>
        </p:txBody>
      </p:sp>
      <p:sp>
        <p:nvSpPr>
          <p:cNvPr id="34" name="">
            <a:extLst xmlns:a="http://schemas.openxmlformats.org/drawingml/2006/main">
              <a:ext uri="{FF2B5EF4-FFF2-40B4-BE49-F238E27FC236}">
                <a16:creationId xmlns:a16="http://schemas.microsoft.com/office/drawing/2014/main" id="{10F6D1A2-5C2B-4592-8471-4C1E72A98E15}"/>
              </a:ext>
            </a:extLst>
          </p:cNvPr>
          <p:cNvSpPr>
            <a:spLocks xmlns:a="http://schemas.openxmlformats.org/drawingml/2006/main" noGrp="1"/>
          </p:cNvSpPr>
          <p:nvPr/>
        </p:nvSpPr>
        <p:spPr>
          <a:xfrm xmlns:a="http://schemas.openxmlformats.org/drawingml/2006/main">
            <a:off x="6648450" y="4305300"/>
            <a:ext cx="133350" cy="1333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ln>
        </p:spPr>
      </p:sp>
      <p:sp>
        <p:nvSpPr>
          <p:cNvPr id="35" name="">
            <a:extLst xmlns:a="http://schemas.openxmlformats.org/drawingml/2006/main">
              <a:ext uri="{FF2B5EF4-FFF2-40B4-BE49-F238E27FC236}">
                <a16:creationId xmlns:a16="http://schemas.microsoft.com/office/drawing/2014/main" id="{56BF60E4-F88C-4488-8C49-0FF2D30B0B8C}"/>
              </a:ext>
            </a:extLst>
          </p:cNvPr>
          <p:cNvSpPr>
            <a:spLocks xmlns:a="http://schemas.openxmlformats.org/drawingml/2006/main" noGrp="1"/>
          </p:cNvSpPr>
          <p:nvPr/>
        </p:nvSpPr>
        <p:spPr>
          <a:xfrm xmlns:a="http://schemas.openxmlformats.org/drawingml/2006/main">
            <a:off x="6915150" y="42291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Rule-based fact extraction</a:t>
            </a:r>
          </a:p>
        </p:txBody>
      </p:sp>
      <p:sp>
        <p:nvSpPr>
          <p:cNvPr id="36" name="">
            <a:extLst xmlns:a="http://schemas.openxmlformats.org/drawingml/2006/main">
              <a:ext uri="{FF2B5EF4-FFF2-40B4-BE49-F238E27FC236}">
                <a16:creationId xmlns:a16="http://schemas.microsoft.com/office/drawing/2014/main" id="{CD6D8DD9-3A62-4EBE-8558-B2ADB1C18713}"/>
              </a:ext>
            </a:extLst>
          </p:cNvPr>
          <p:cNvSpPr>
            <a:spLocks xmlns:a="http://schemas.openxmlformats.org/drawingml/2006/main" noGrp="1"/>
          </p:cNvSpPr>
          <p:nvPr/>
        </p:nvSpPr>
        <p:spPr>
          <a:xfrm xmlns:a="http://schemas.openxmlformats.org/drawingml/2006/main">
            <a:off x="9239250" y="1752600"/>
            <a:ext cx="2381250" cy="36195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37" name="">
            <a:extLst xmlns:a="http://schemas.openxmlformats.org/drawingml/2006/main">
              <a:ext uri="{FF2B5EF4-FFF2-40B4-BE49-F238E27FC236}">
                <a16:creationId xmlns:a16="http://schemas.microsoft.com/office/drawing/2014/main" id="{9CA17CF0-745A-4E17-982C-44C34BA245B7}"/>
              </a:ext>
            </a:extLst>
          </p:cNvPr>
          <p:cNvSpPr>
            <a:spLocks xmlns:a="http://schemas.openxmlformats.org/drawingml/2006/main" noGrp="1"/>
          </p:cNvSpPr>
          <p:nvPr/>
        </p:nvSpPr>
        <p:spPr>
          <a:xfrm xmlns:a="http://schemas.openxmlformats.org/drawingml/2006/main">
            <a:off x="9448800" y="2038350"/>
            <a:ext cx="192405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6B6D4"/>
                </a:solidFill>
              </a:defRPr>
            </a:pPr>
            <a:r>
              <a:rPr sz="1800" b="1">
                <a:solidFill>
                  <a:srgbClr val="06B6D4"/>
                </a:solidFill>
              </a:rPr>
              <a:t>Controls</a:t>
            </a:r>
          </a:p>
        </p:txBody>
      </p:sp>
      <p:sp>
        <p:nvSpPr>
          <p:cNvPr id="38" name="">
            <a:extLst xmlns:a="http://schemas.openxmlformats.org/drawingml/2006/main">
              <a:ext uri="{FF2B5EF4-FFF2-40B4-BE49-F238E27FC236}">
                <a16:creationId xmlns:a16="http://schemas.microsoft.com/office/drawing/2014/main" id="{E05C32AB-C1A2-4C0C-A4A6-BD7C780C04A6}"/>
              </a:ext>
            </a:extLst>
          </p:cNvPr>
          <p:cNvSpPr>
            <a:spLocks xmlns:a="http://schemas.openxmlformats.org/drawingml/2006/main" noGrp="1"/>
          </p:cNvSpPr>
          <p:nvPr/>
        </p:nvSpPr>
        <p:spPr>
          <a:xfrm xmlns:a="http://schemas.openxmlformats.org/drawingml/2006/main">
            <a:off x="9505950" y="2705100"/>
            <a:ext cx="133350" cy="133350"/>
          </a:xfrm>
          <a:prstGeom xmlns:a="http://schemas.openxmlformats.org/drawingml/2006/main" prst="ellipse">
            <a:avLst/>
          </a:prstGeom>
          <a:solidFill xmlns:a="http://schemas.openxmlformats.org/drawingml/2006/main">
            <a:srgbClr val="06B6D4"/>
          </a:solidFill>
          <a:ln xmlns:a="http://schemas.openxmlformats.org/drawingml/2006/main" w="0">
            <a:solidFill>
              <a:srgbClr val="06B6D4"/>
            </a:solidFill>
          </a:ln>
        </p:spPr>
      </p:sp>
      <p:sp>
        <p:nvSpPr>
          <p:cNvPr id="39" name="">
            <a:extLst xmlns:a="http://schemas.openxmlformats.org/drawingml/2006/main">
              <a:ext uri="{FF2B5EF4-FFF2-40B4-BE49-F238E27FC236}">
                <a16:creationId xmlns:a16="http://schemas.microsoft.com/office/drawing/2014/main" id="{526F2EAD-09D0-4CB8-9AD9-6BEF3DE54330}"/>
              </a:ext>
            </a:extLst>
          </p:cNvPr>
          <p:cNvSpPr>
            <a:spLocks xmlns:a="http://schemas.openxmlformats.org/drawingml/2006/main" noGrp="1"/>
          </p:cNvSpPr>
          <p:nvPr/>
        </p:nvSpPr>
        <p:spPr>
          <a:xfrm xmlns:a="http://schemas.openxmlformats.org/drawingml/2006/main">
            <a:off x="9772650" y="26289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View/edit/delete memory</a:t>
            </a:r>
          </a:p>
        </p:txBody>
      </p:sp>
      <p:sp>
        <p:nvSpPr>
          <p:cNvPr id="40" name="">
            <a:extLst xmlns:a="http://schemas.openxmlformats.org/drawingml/2006/main">
              <a:ext uri="{FF2B5EF4-FFF2-40B4-BE49-F238E27FC236}">
                <a16:creationId xmlns:a16="http://schemas.microsoft.com/office/drawing/2014/main" id="{41EBD333-6374-465C-913B-BEFD322FE30E}"/>
              </a:ext>
            </a:extLst>
          </p:cNvPr>
          <p:cNvSpPr>
            <a:spLocks xmlns:a="http://schemas.openxmlformats.org/drawingml/2006/main" noGrp="1"/>
          </p:cNvSpPr>
          <p:nvPr/>
        </p:nvSpPr>
        <p:spPr>
          <a:xfrm xmlns:a="http://schemas.openxmlformats.org/drawingml/2006/main">
            <a:off x="9505950" y="3238500"/>
            <a:ext cx="133350" cy="133350"/>
          </a:xfrm>
          <a:prstGeom xmlns:a="http://schemas.openxmlformats.org/drawingml/2006/main" prst="ellipse">
            <a:avLst/>
          </a:prstGeom>
          <a:solidFill xmlns:a="http://schemas.openxmlformats.org/drawingml/2006/main">
            <a:srgbClr val="06B6D4"/>
          </a:solidFill>
          <a:ln xmlns:a="http://schemas.openxmlformats.org/drawingml/2006/main" w="0">
            <a:solidFill>
              <a:srgbClr val="06B6D4"/>
            </a:solidFill>
          </a:ln>
        </p:spPr>
      </p:sp>
      <p:sp>
        <p:nvSpPr>
          <p:cNvPr id="41" name="">
            <a:extLst xmlns:a="http://schemas.openxmlformats.org/drawingml/2006/main">
              <a:ext uri="{FF2B5EF4-FFF2-40B4-BE49-F238E27FC236}">
                <a16:creationId xmlns:a16="http://schemas.microsoft.com/office/drawing/2014/main" id="{32BAF12B-9371-45ED-8DB2-889A6426321E}"/>
              </a:ext>
            </a:extLst>
          </p:cNvPr>
          <p:cNvSpPr>
            <a:spLocks xmlns:a="http://schemas.openxmlformats.org/drawingml/2006/main" noGrp="1"/>
          </p:cNvSpPr>
          <p:nvPr/>
        </p:nvSpPr>
        <p:spPr>
          <a:xfrm xmlns:a="http://schemas.openxmlformats.org/drawingml/2006/main">
            <a:off x="9772650" y="31623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Summarize memory</a:t>
            </a:r>
          </a:p>
        </p:txBody>
      </p:sp>
      <p:sp>
        <p:nvSpPr>
          <p:cNvPr id="42" name="">
            <a:extLst xmlns:a="http://schemas.openxmlformats.org/drawingml/2006/main">
              <a:ext uri="{FF2B5EF4-FFF2-40B4-BE49-F238E27FC236}">
                <a16:creationId xmlns:a16="http://schemas.microsoft.com/office/drawing/2014/main" id="{877DDC0E-E35B-4829-9309-A0F3AC660B43}"/>
              </a:ext>
            </a:extLst>
          </p:cNvPr>
          <p:cNvSpPr>
            <a:spLocks xmlns:a="http://schemas.openxmlformats.org/drawingml/2006/main" noGrp="1"/>
          </p:cNvSpPr>
          <p:nvPr/>
        </p:nvSpPr>
        <p:spPr>
          <a:xfrm xmlns:a="http://schemas.openxmlformats.org/drawingml/2006/main">
            <a:off x="9505950" y="3771900"/>
            <a:ext cx="133350" cy="133350"/>
          </a:xfrm>
          <a:prstGeom xmlns:a="http://schemas.openxmlformats.org/drawingml/2006/main" prst="ellipse">
            <a:avLst/>
          </a:prstGeom>
          <a:solidFill xmlns:a="http://schemas.openxmlformats.org/drawingml/2006/main">
            <a:srgbClr val="06B6D4"/>
          </a:solidFill>
          <a:ln xmlns:a="http://schemas.openxmlformats.org/drawingml/2006/main" w="0">
            <a:solidFill>
              <a:srgbClr val="06B6D4"/>
            </a:solidFill>
          </a:ln>
        </p:spPr>
      </p:sp>
      <p:sp>
        <p:nvSpPr>
          <p:cNvPr id="43" name="">
            <a:extLst xmlns:a="http://schemas.openxmlformats.org/drawingml/2006/main">
              <a:ext uri="{FF2B5EF4-FFF2-40B4-BE49-F238E27FC236}">
                <a16:creationId xmlns:a16="http://schemas.microsoft.com/office/drawing/2014/main" id="{0DD8A25C-63E4-4219-85DF-332860595AEC}"/>
              </a:ext>
            </a:extLst>
          </p:cNvPr>
          <p:cNvSpPr>
            <a:spLocks xmlns:a="http://schemas.openxmlformats.org/drawingml/2006/main" noGrp="1"/>
          </p:cNvSpPr>
          <p:nvPr/>
        </p:nvSpPr>
        <p:spPr>
          <a:xfrm xmlns:a="http://schemas.openxmlformats.org/drawingml/2006/main">
            <a:off x="9772650" y="36957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Baseline selector</a:t>
            </a:r>
          </a:p>
        </p:txBody>
      </p:sp>
      <p:sp>
        <p:nvSpPr>
          <p:cNvPr id="44" name="">
            <a:extLst xmlns:a="http://schemas.openxmlformats.org/drawingml/2006/main">
              <a:ext uri="{FF2B5EF4-FFF2-40B4-BE49-F238E27FC236}">
                <a16:creationId xmlns:a16="http://schemas.microsoft.com/office/drawing/2014/main" id="{9DFD7EB4-4DB1-4CC9-9A14-FED2042C6CBF}"/>
              </a:ext>
            </a:extLst>
          </p:cNvPr>
          <p:cNvSpPr>
            <a:spLocks xmlns:a="http://schemas.openxmlformats.org/drawingml/2006/main" noGrp="1"/>
          </p:cNvSpPr>
          <p:nvPr/>
        </p:nvSpPr>
        <p:spPr>
          <a:xfrm xmlns:a="http://schemas.openxmlformats.org/drawingml/2006/main">
            <a:off x="9505950" y="4305300"/>
            <a:ext cx="133350" cy="133350"/>
          </a:xfrm>
          <a:prstGeom xmlns:a="http://schemas.openxmlformats.org/drawingml/2006/main" prst="ellipse">
            <a:avLst/>
          </a:prstGeom>
          <a:solidFill xmlns:a="http://schemas.openxmlformats.org/drawingml/2006/main">
            <a:srgbClr val="06B6D4"/>
          </a:solidFill>
          <a:ln xmlns:a="http://schemas.openxmlformats.org/drawingml/2006/main" w="0">
            <a:solidFill>
              <a:srgbClr val="06B6D4"/>
            </a:solidFill>
          </a:ln>
        </p:spPr>
      </p:sp>
      <p:sp>
        <p:nvSpPr>
          <p:cNvPr id="45" name="">
            <a:extLst xmlns:a="http://schemas.openxmlformats.org/drawingml/2006/main">
              <a:ext uri="{FF2B5EF4-FFF2-40B4-BE49-F238E27FC236}">
                <a16:creationId xmlns:a16="http://schemas.microsoft.com/office/drawing/2014/main" id="{A86FD7F5-7239-48F0-9AA8-FAF8504B7ED8}"/>
              </a:ext>
            </a:extLst>
          </p:cNvPr>
          <p:cNvSpPr>
            <a:spLocks xmlns:a="http://schemas.openxmlformats.org/drawingml/2006/main" noGrp="1"/>
          </p:cNvSpPr>
          <p:nvPr/>
        </p:nvSpPr>
        <p:spPr>
          <a:xfrm xmlns:a="http://schemas.openxmlformats.org/drawingml/2006/main">
            <a:off x="9772650" y="4229100"/>
            <a:ext cx="1619250" cy="4000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72033"/>
                </a:solidFill>
              </a:defRPr>
            </a:pPr>
            <a:r>
              <a:rPr sz="1275" b="0">
                <a:solidFill>
                  <a:srgbClr val="172033"/>
                </a:solidFill>
              </a:rPr>
              <a:t>Evaluation logs</a:t>
            </a:r>
          </a:p>
        </p:txBody>
      </p:sp>
      <p:sp>
        <p:nvSpPr>
          <p:cNvPr id="46" name="">
            <a:extLst xmlns:a="http://schemas.openxmlformats.org/drawingml/2006/main">
              <a:ext uri="{FF2B5EF4-FFF2-40B4-BE49-F238E27FC236}">
                <a16:creationId xmlns:a16="http://schemas.microsoft.com/office/drawing/2014/main" id="{2A548BFB-1ADE-4B44-BC32-1A8F7EE01EF9}"/>
              </a:ext>
            </a:extLst>
          </p:cNvPr>
          <p:cNvSpPr>
            <a:spLocks xmlns:a="http://schemas.openxmlformats.org/drawingml/2006/main" noGrp="1"/>
          </p:cNvSpPr>
          <p:nvPr/>
        </p:nvSpPr>
        <p:spPr>
          <a:xfrm xmlns:a="http://schemas.openxmlformats.org/drawingml/2006/main">
            <a:off x="2895600" y="5829300"/>
            <a:ext cx="6381750" cy="323850"/>
          </a:xfrm>
          <a:prstGeom xmlns:a="http://schemas.openxmlformats.org/drawingml/2006/main" prst="roundRect">
            <a:avLst>
              <a:gd name="adj" fmla="val 50000"/>
            </a:avLst>
          </a:prstGeom>
          <a:solidFill xmlns:a="http://schemas.openxmlformats.org/drawingml/2006/main">
            <a:srgbClr val="FEF3C7"/>
          </a:solidFill>
          <a:ln xmlns:a="http://schemas.openxmlformats.org/drawingml/2006/main" w="0">
            <a:solidFill>
              <a:srgbClr val="FEF3C7"/>
            </a:solidFill>
          </a:ln>
        </p:spPr>
        <p:txBody>
          <a:bodyPr xmlns:a="http://schemas.openxmlformats.org/drawingml/2006/main" anchor="ctr"/>
          <a:lstStyle xmlns:a="http://schemas.openxmlformats.org/drawingml/2006/main"/>
          <a:p xmlns:a="http://schemas.openxmlformats.org/drawingml/2006/main">
            <a:pPr algn="ctr">
              <a:defRPr sz="1050" b="1">
                <a:solidFill>
                  <a:srgbClr val="B45309"/>
                </a:solidFill>
              </a:defRPr>
            </a:pPr>
            <a:r>
              <a:rPr sz="1050" b="1">
                <a:solidFill>
                  <a:srgbClr val="B45309"/>
                </a:solidFill>
              </a:rPr>
              <a:t>Runs locally without paid API keys; optional OPENAI_API_KEY can be added.</a:t>
            </a:r>
          </a:p>
        </p:txBody>
      </p:sp>
    </p:spTree>
    <p:extLst>
      <p:ext uri="{BB962C8B-B14F-4D97-AF65-F5344CB8AC3E}">
        <p14:creationId xmlns:p14="http://schemas.microsoft.com/office/powerpoint/2010/main" val="363840686"/>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F32D155F-8A3F-49B4-9B05-DC85E9875B98}"/>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EFDF1BE-86B1-4956-A70B-F443122851B6}"/>
              </a:ext>
            </a:extLst>
          </p:cNvPr>
          <p:cNvSpPr>
            <a:spLocks xmlns:a="http://schemas.openxmlformats.org/drawingml/2006/main" noGrp="1"/>
          </p:cNvSpPr>
          <p:nvPr/>
        </p:nvSpPr>
        <p:spPr>
          <a:xfrm xmlns:a="http://schemas.openxmlformats.org/drawingml/2006/main">
            <a:off x="9334500" y="-1524000"/>
            <a:ext cx="4000500" cy="4000500"/>
          </a:xfrm>
          <a:prstGeom xmlns:a="http://schemas.openxmlformats.org/drawingml/2006/main" prst="ellipse">
            <a:avLst/>
          </a:prstGeom>
          <a:solidFill xmlns:a="http://schemas.openxmlformats.org/drawingml/2006/main">
            <a:srgbClr val="E0E7FF"/>
          </a:solidFill>
          <a:ln xmlns:a="http://schemas.openxmlformats.org/drawingml/2006/main" w="0">
            <a:solidFill>
              <a:srgbClr val="E0E7FF"/>
            </a:solidFill>
          </a:ln>
        </p:spPr>
      </p:sp>
      <p:sp>
        <p:nvSpPr>
          <p:cNvPr id="3" name="">
            <a:extLst xmlns:a="http://schemas.openxmlformats.org/drawingml/2006/main">
              <a:ext uri="{FF2B5EF4-FFF2-40B4-BE49-F238E27FC236}">
                <a16:creationId xmlns:a16="http://schemas.microsoft.com/office/drawing/2014/main" id="{A9D9E42C-93E9-42BC-8B49-E62949828945}"/>
              </a:ext>
            </a:extLst>
          </p:cNvPr>
          <p:cNvSpPr>
            <a:spLocks xmlns:a="http://schemas.openxmlformats.org/drawingml/2006/main" noGrp="1"/>
          </p:cNvSpPr>
          <p:nvPr/>
        </p:nvSpPr>
        <p:spPr>
          <a:xfrm xmlns:a="http://schemas.openxmlformats.org/drawingml/2006/main">
            <a:off x="-1619250" y="4953000"/>
            <a:ext cx="3429000" cy="3429000"/>
          </a:xfrm>
          <a:prstGeom xmlns:a="http://schemas.openxmlformats.org/drawingml/2006/main" prst="ellipse">
            <a:avLst/>
          </a:prstGeom>
          <a:solidFill xmlns:a="http://schemas.openxmlformats.org/drawingml/2006/main">
            <a:srgbClr val="E0F2FE"/>
          </a:solidFill>
          <a:ln xmlns:a="http://schemas.openxmlformats.org/drawingml/2006/main" w="0">
            <a:solidFill>
              <a:srgbClr val="E0F2FE"/>
            </a:solidFill>
          </a:ln>
        </p:spPr>
      </p:sp>
      <p:sp>
        <p:nvSpPr>
          <p:cNvPr id="4" name="">
            <a:extLst xmlns:a="http://schemas.openxmlformats.org/drawingml/2006/main">
              <a:ext uri="{FF2B5EF4-FFF2-40B4-BE49-F238E27FC236}">
                <a16:creationId xmlns:a16="http://schemas.microsoft.com/office/drawing/2014/main" id="{9974CD40-36B7-46A3-82CE-699B0E6C39EB}"/>
              </a:ext>
            </a:extLst>
          </p:cNvPr>
          <p:cNvSpPr>
            <a:spLocks xmlns:a="http://schemas.openxmlformats.org/drawingml/2006/main" noGrp="1"/>
          </p:cNvSpPr>
          <p:nvPr/>
        </p:nvSpPr>
        <p:spPr>
          <a:xfrm xmlns:a="http://schemas.openxmlformats.org/drawingml/2006/main">
            <a:off x="666750" y="419100"/>
            <a:ext cx="80010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4F46E5"/>
                </a:solidFill>
              </a:defRPr>
            </a:pPr>
            <a:r>
              <a:rPr sz="1050" b="1">
                <a:solidFill>
                  <a:srgbClr val="4F46E5"/>
                </a:solidFill>
              </a:rPr>
              <a:t>CLOSE</a:t>
            </a:r>
          </a:p>
        </p:txBody>
      </p:sp>
      <p:sp>
        <p:nvSpPr>
          <p:cNvPr id="5" name="">
            <a:extLst xmlns:a="http://schemas.openxmlformats.org/drawingml/2006/main">
              <a:ext uri="{FF2B5EF4-FFF2-40B4-BE49-F238E27FC236}">
                <a16:creationId xmlns:a16="http://schemas.microsoft.com/office/drawing/2014/main" id="{B34A0C10-CF84-4C61-AAFE-5EB1C85FE9A6}"/>
              </a:ext>
            </a:extLst>
          </p:cNvPr>
          <p:cNvSpPr>
            <a:spLocks xmlns:a="http://schemas.openxmlformats.org/drawingml/2006/main" noGrp="1"/>
          </p:cNvSpPr>
          <p:nvPr/>
        </p:nvSpPr>
        <p:spPr>
          <a:xfrm xmlns:a="http://schemas.openxmlformats.org/drawingml/2006/main">
            <a:off x="666750" y="723900"/>
            <a:ext cx="9334500" cy="590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72033"/>
                </a:solidFill>
              </a:defRPr>
            </a:pPr>
            <a:r>
              <a:rPr sz="2925" b="1">
                <a:solidFill>
                  <a:srgbClr val="172033"/>
                </a:solidFill>
              </a:rPr>
              <a:t>Takeaways</a:t>
            </a:r>
          </a:p>
        </p:txBody>
      </p:sp>
      <p:sp>
        <p:nvSpPr>
          <p:cNvPr id="6" name="">
            <a:extLst xmlns:a="http://schemas.openxmlformats.org/drawingml/2006/main">
              <a:ext uri="{FF2B5EF4-FFF2-40B4-BE49-F238E27FC236}">
                <a16:creationId xmlns:a16="http://schemas.microsoft.com/office/drawing/2014/main" id="{69A2C470-694E-45DB-A7D7-E339582819E4}"/>
              </a:ext>
            </a:extLst>
          </p:cNvPr>
          <p:cNvSpPr>
            <a:spLocks xmlns:a="http://schemas.openxmlformats.org/drawingml/2006/main" noGrp="1"/>
          </p:cNvSpPr>
          <p:nvPr/>
        </p:nvSpPr>
        <p:spPr>
          <a:xfrm xmlns:a="http://schemas.openxmlformats.org/drawingml/2006/main">
            <a:off x="952500" y="1752600"/>
            <a:ext cx="4572000" cy="10668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7" name="">
            <a:extLst xmlns:a="http://schemas.openxmlformats.org/drawingml/2006/main">
              <a:ext uri="{FF2B5EF4-FFF2-40B4-BE49-F238E27FC236}">
                <a16:creationId xmlns:a16="http://schemas.microsoft.com/office/drawing/2014/main" id="{29AE6A6C-14BE-4E44-AA34-605563448E24}"/>
              </a:ext>
            </a:extLst>
          </p:cNvPr>
          <p:cNvSpPr>
            <a:spLocks xmlns:a="http://schemas.openxmlformats.org/drawingml/2006/main" noGrp="1"/>
          </p:cNvSpPr>
          <p:nvPr/>
        </p:nvSpPr>
        <p:spPr>
          <a:xfrm xmlns:a="http://schemas.openxmlformats.org/drawingml/2006/main">
            <a:off x="1200150" y="19621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4F46E5"/>
                </a:solidFill>
              </a:defRPr>
            </a:pPr>
            <a:r>
              <a:rPr sz="1875" b="1">
                <a:solidFill>
                  <a:srgbClr val="4F46E5"/>
                </a:solidFill>
              </a:rPr>
              <a:t>Persistent</a:t>
            </a:r>
          </a:p>
        </p:txBody>
      </p:sp>
      <p:sp>
        <p:nvSpPr>
          <p:cNvPr id="8" name="">
            <a:extLst xmlns:a="http://schemas.openxmlformats.org/drawingml/2006/main">
              <a:ext uri="{FF2B5EF4-FFF2-40B4-BE49-F238E27FC236}">
                <a16:creationId xmlns:a16="http://schemas.microsoft.com/office/drawing/2014/main" id="{188AB3FC-E270-45E8-8A46-B438A5D4DCC7}"/>
              </a:ext>
            </a:extLst>
          </p:cNvPr>
          <p:cNvSpPr>
            <a:spLocks xmlns:a="http://schemas.openxmlformats.org/drawingml/2006/main" noGrp="1"/>
          </p:cNvSpPr>
          <p:nvPr/>
        </p:nvSpPr>
        <p:spPr>
          <a:xfrm xmlns:a="http://schemas.openxmlformats.org/drawingml/2006/main">
            <a:off x="1200150" y="2324100"/>
            <a:ext cx="3810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The tutor remembers useful learner facts across sessions.</a:t>
            </a:r>
          </a:p>
        </p:txBody>
      </p:sp>
      <p:sp>
        <p:nvSpPr>
          <p:cNvPr id="9" name="">
            <a:extLst xmlns:a="http://schemas.openxmlformats.org/drawingml/2006/main">
              <a:ext uri="{FF2B5EF4-FFF2-40B4-BE49-F238E27FC236}">
                <a16:creationId xmlns:a16="http://schemas.microsoft.com/office/drawing/2014/main" id="{AE001C05-7133-4F10-A783-34B1B84CC35E}"/>
              </a:ext>
            </a:extLst>
          </p:cNvPr>
          <p:cNvSpPr>
            <a:spLocks xmlns:a="http://schemas.openxmlformats.org/drawingml/2006/main" noGrp="1"/>
          </p:cNvSpPr>
          <p:nvPr/>
        </p:nvSpPr>
        <p:spPr>
          <a:xfrm xmlns:a="http://schemas.openxmlformats.org/drawingml/2006/main">
            <a:off x="6191250" y="1752600"/>
            <a:ext cx="4572000" cy="10668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10" name="">
            <a:extLst xmlns:a="http://schemas.openxmlformats.org/drawingml/2006/main">
              <a:ext uri="{FF2B5EF4-FFF2-40B4-BE49-F238E27FC236}">
                <a16:creationId xmlns:a16="http://schemas.microsoft.com/office/drawing/2014/main" id="{11838F5A-BB7D-4E49-ABAC-2EE969AA86C7}"/>
              </a:ext>
            </a:extLst>
          </p:cNvPr>
          <p:cNvSpPr>
            <a:spLocks xmlns:a="http://schemas.openxmlformats.org/drawingml/2006/main" noGrp="1"/>
          </p:cNvSpPr>
          <p:nvPr/>
        </p:nvSpPr>
        <p:spPr>
          <a:xfrm xmlns:a="http://schemas.openxmlformats.org/drawingml/2006/main">
            <a:off x="6438900" y="19621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7C3AED"/>
                </a:solidFill>
              </a:defRPr>
            </a:pPr>
            <a:r>
              <a:rPr sz="1875" b="1">
                <a:solidFill>
                  <a:srgbClr val="7C3AED"/>
                </a:solidFill>
              </a:rPr>
              <a:t>Personalized</a:t>
            </a:r>
          </a:p>
        </p:txBody>
      </p:sp>
      <p:sp>
        <p:nvSpPr>
          <p:cNvPr id="11" name="">
            <a:extLst xmlns:a="http://schemas.openxmlformats.org/drawingml/2006/main">
              <a:ext uri="{FF2B5EF4-FFF2-40B4-BE49-F238E27FC236}">
                <a16:creationId xmlns:a16="http://schemas.microsoft.com/office/drawing/2014/main" id="{8AEDC77F-9312-437C-83D7-1DF6E02CC4C9}"/>
              </a:ext>
            </a:extLst>
          </p:cNvPr>
          <p:cNvSpPr>
            <a:spLocks xmlns:a="http://schemas.openxmlformats.org/drawingml/2006/main" noGrp="1"/>
          </p:cNvSpPr>
          <p:nvPr/>
        </p:nvSpPr>
        <p:spPr>
          <a:xfrm xmlns:a="http://schemas.openxmlformats.org/drawingml/2006/main">
            <a:off x="6438900" y="2324100"/>
            <a:ext cx="3810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Responses adapt to goals, weak areas, and preferred style.</a:t>
            </a:r>
          </a:p>
        </p:txBody>
      </p:sp>
      <p:sp>
        <p:nvSpPr>
          <p:cNvPr id="12" name="">
            <a:extLst xmlns:a="http://schemas.openxmlformats.org/drawingml/2006/main">
              <a:ext uri="{FF2B5EF4-FFF2-40B4-BE49-F238E27FC236}">
                <a16:creationId xmlns:a16="http://schemas.microsoft.com/office/drawing/2014/main" id="{ED80623E-FEDC-4BF5-8996-51396E823BF1}"/>
              </a:ext>
            </a:extLst>
          </p:cNvPr>
          <p:cNvSpPr>
            <a:spLocks xmlns:a="http://schemas.openxmlformats.org/drawingml/2006/main" noGrp="1"/>
          </p:cNvSpPr>
          <p:nvPr/>
        </p:nvSpPr>
        <p:spPr>
          <a:xfrm xmlns:a="http://schemas.openxmlformats.org/drawingml/2006/main">
            <a:off x="952500" y="3276600"/>
            <a:ext cx="4572000" cy="10668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DE4F0"/>
            </a:solidFill>
          </a:ln>
        </p:spPr>
      </p:sp>
      <p:sp>
        <p:nvSpPr>
          <p:cNvPr id="13" name="">
            <a:extLst xmlns:a="http://schemas.openxmlformats.org/drawingml/2006/main">
              <a:ext uri="{FF2B5EF4-FFF2-40B4-BE49-F238E27FC236}">
                <a16:creationId xmlns:a16="http://schemas.microsoft.com/office/drawing/2014/main" id="{D0AD1709-B3B7-4A8D-8777-E56D8D700A5F}"/>
              </a:ext>
            </a:extLst>
          </p:cNvPr>
          <p:cNvSpPr>
            <a:spLocks xmlns:a="http://schemas.openxmlformats.org/drawingml/2006/main" noGrp="1"/>
          </p:cNvSpPr>
          <p:nvPr/>
        </p:nvSpPr>
        <p:spPr>
          <a:xfrm xmlns:a="http://schemas.openxmlformats.org/drawingml/2006/main">
            <a:off x="1200150" y="34861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0B981"/>
                </a:solidFill>
              </a:defRPr>
            </a:pPr>
            <a:r>
              <a:rPr sz="1875" b="1">
                <a:solidFill>
                  <a:srgbClr val="10B981"/>
                </a:solidFill>
              </a:rPr>
              <a:t>Controllable</a:t>
            </a:r>
          </a:p>
        </p:txBody>
      </p:sp>
      <p:sp>
        <p:nvSpPr>
          <p:cNvPr id="14" name="">
            <a:extLst xmlns:a="http://schemas.openxmlformats.org/drawingml/2006/main">
              <a:ext uri="{FF2B5EF4-FFF2-40B4-BE49-F238E27FC236}">
                <a16:creationId xmlns:a16="http://schemas.microsoft.com/office/drawing/2014/main" id="{E90CA636-ACE6-4D21-8FCE-6BBAC2F57AA2}"/>
              </a:ext>
            </a:extLst>
          </p:cNvPr>
          <p:cNvSpPr>
            <a:spLocks xmlns:a="http://schemas.openxmlformats.org/drawingml/2006/main" noGrp="1"/>
          </p:cNvSpPr>
          <p:nvPr/>
        </p:nvSpPr>
        <p:spPr>
          <a:xfrm xmlns:a="http://schemas.openxmlformats.org/drawingml/2006/main">
            <a:off x="1200150" y="3848100"/>
            <a:ext cx="3810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Students can inspect, edit, summarize, and delete memories.</a:t>
            </a:r>
          </a:p>
        </p:txBody>
      </p:sp>
      <p:sp>
        <p:nvSpPr>
          <p:cNvPr id="15" name="">
            <a:extLst xmlns:a="http://schemas.openxmlformats.org/drawingml/2006/main">
              <a:ext uri="{FF2B5EF4-FFF2-40B4-BE49-F238E27FC236}">
                <a16:creationId xmlns:a16="http://schemas.microsoft.com/office/drawing/2014/main" id="{6D8F87F6-D529-4FD8-B325-1BD3FB15615A}"/>
              </a:ext>
            </a:extLst>
          </p:cNvPr>
          <p:cNvSpPr>
            <a:spLocks xmlns:a="http://schemas.openxmlformats.org/drawingml/2006/main" noGrp="1"/>
          </p:cNvSpPr>
          <p:nvPr/>
        </p:nvSpPr>
        <p:spPr>
          <a:xfrm xmlns:a="http://schemas.openxmlformats.org/drawingml/2006/main">
            <a:off x="6191250" y="3276600"/>
            <a:ext cx="4572000" cy="10668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DDE4F0"/>
            </a:solidFill>
          </a:ln>
        </p:spPr>
      </p:sp>
      <p:sp>
        <p:nvSpPr>
          <p:cNvPr id="16" name="">
            <a:extLst xmlns:a="http://schemas.openxmlformats.org/drawingml/2006/main">
              <a:ext uri="{FF2B5EF4-FFF2-40B4-BE49-F238E27FC236}">
                <a16:creationId xmlns:a16="http://schemas.microsoft.com/office/drawing/2014/main" id="{AAA2FC68-782B-4319-88DB-B1A0FCEE60CD}"/>
              </a:ext>
            </a:extLst>
          </p:cNvPr>
          <p:cNvSpPr>
            <a:spLocks xmlns:a="http://schemas.openxmlformats.org/drawingml/2006/main" noGrp="1"/>
          </p:cNvSpPr>
          <p:nvPr/>
        </p:nvSpPr>
        <p:spPr>
          <a:xfrm xmlns:a="http://schemas.openxmlformats.org/drawingml/2006/main">
            <a:off x="6438900" y="3486150"/>
            <a:ext cx="1714500" cy="2667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6B6D4"/>
                </a:solidFill>
              </a:defRPr>
            </a:pPr>
            <a:r>
              <a:rPr sz="1875" b="1">
                <a:solidFill>
                  <a:srgbClr val="06B6D4"/>
                </a:solidFill>
              </a:rPr>
              <a:t>Measurable</a:t>
            </a:r>
          </a:p>
        </p:txBody>
      </p:sp>
      <p:sp>
        <p:nvSpPr>
          <p:cNvPr id="17" name="">
            <a:extLst xmlns:a="http://schemas.openxmlformats.org/drawingml/2006/main">
              <a:ext uri="{FF2B5EF4-FFF2-40B4-BE49-F238E27FC236}">
                <a16:creationId xmlns:a16="http://schemas.microsoft.com/office/drawing/2014/main" id="{F6A41D61-37FA-4A35-825C-D278CA6587E8}"/>
              </a:ext>
            </a:extLst>
          </p:cNvPr>
          <p:cNvSpPr>
            <a:spLocks xmlns:a="http://schemas.openxmlformats.org/drawingml/2006/main" noGrp="1"/>
          </p:cNvSpPr>
          <p:nvPr/>
        </p:nvSpPr>
        <p:spPr>
          <a:xfrm xmlns:a="http://schemas.openxmlformats.org/drawingml/2006/main">
            <a:off x="6438900" y="3848100"/>
            <a:ext cx="38100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4748B"/>
                </a:solidFill>
              </a:defRPr>
            </a:pPr>
            <a:r>
              <a:rPr sz="1275" b="0">
                <a:solidFill>
                  <a:srgbClr val="64748B"/>
                </a:solidFill>
              </a:rPr>
              <a:t>Evaluation tracks memory, personalization, forgetting, and efficiency.</a:t>
            </a:r>
          </a:p>
        </p:txBody>
      </p:sp>
      <p:sp>
        <p:nvSpPr>
          <p:cNvPr id="18" name="">
            <a:extLst xmlns:a="http://schemas.openxmlformats.org/drawingml/2006/main">
              <a:ext uri="{FF2B5EF4-FFF2-40B4-BE49-F238E27FC236}">
                <a16:creationId xmlns:a16="http://schemas.microsoft.com/office/drawing/2014/main" id="{65485A98-7E21-4EB1-8A51-E54436DB279C}"/>
              </a:ext>
            </a:extLst>
          </p:cNvPr>
          <p:cNvSpPr>
            <a:spLocks xmlns:a="http://schemas.openxmlformats.org/drawingml/2006/main" noGrp="1"/>
          </p:cNvSpPr>
          <p:nvPr/>
        </p:nvSpPr>
        <p:spPr>
          <a:xfrm xmlns:a="http://schemas.openxmlformats.org/drawingml/2006/main">
            <a:off x="1809750" y="5334000"/>
            <a:ext cx="8572500" cy="723900"/>
          </a:xfrm>
          <a:prstGeom xmlns:a="http://schemas.openxmlformats.org/drawingml/2006/main" prst="roundRect">
            <a:avLst>
              <a:gd name="adj" fmla="val 12000"/>
            </a:avLst>
          </a:prstGeom>
          <a:solidFill xmlns:a="http://schemas.openxmlformats.org/drawingml/2006/main">
            <a:srgbClr val="EEF2FF"/>
          </a:solidFill>
          <a:ln xmlns:a="http://schemas.openxmlformats.org/drawingml/2006/main" w="9525">
            <a:solidFill>
              <a:srgbClr val="C7D2FE"/>
            </a:solidFill>
          </a:ln>
        </p:spPr>
      </p:sp>
      <p:sp>
        <p:nvSpPr>
          <p:cNvPr id="19" name="">
            <a:extLst xmlns:a="http://schemas.openxmlformats.org/drawingml/2006/main">
              <a:ext uri="{FF2B5EF4-FFF2-40B4-BE49-F238E27FC236}">
                <a16:creationId xmlns:a16="http://schemas.microsoft.com/office/drawing/2014/main" id="{9A8D8754-662C-456B-9C31-6E3175400C71}"/>
              </a:ext>
            </a:extLst>
          </p:cNvPr>
          <p:cNvSpPr>
            <a:spLocks xmlns:a="http://schemas.openxmlformats.org/drawingml/2006/main" noGrp="1"/>
          </p:cNvSpPr>
          <p:nvPr/>
        </p:nvSpPr>
        <p:spPr>
          <a:xfrm xmlns:a="http://schemas.openxmlformats.org/drawingml/2006/main">
            <a:off x="2247900" y="5562600"/>
            <a:ext cx="76962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4F46E5"/>
                </a:solidFill>
              </a:defRPr>
            </a:pPr>
            <a:r>
              <a:rPr sz="1575" b="1">
                <a:solidFill>
                  <a:srgbClr val="4F46E5"/>
                </a:solidFill>
              </a:rPr>
              <a:t>Future work: real benchmark datasets, true LoRA/PEFT training, richer analytics, and stronger privacy verification.</a:t>
            </a:r>
          </a:p>
        </p:txBody>
      </p:sp>
    </p:spTree>
    <p:extLst>
      <p:ext uri="{BB962C8B-B14F-4D97-AF65-F5344CB8AC3E}">
        <p14:creationId xmlns:p14="http://schemas.microsoft.com/office/powerpoint/2010/main" val="1581666325"/>
      </p:ext>
    </p:extLst>
  </p:cSld>
</p:sld>
</file>

<file path=ppt/theme/theme1.xml><?xml version="1.0" encoding="utf-8"?>
<a:theme xmlns:a="http://schemas.openxmlformats.org/drawingml/2006/main" name="MemoryTutor">
  <a:themeElements>
    <a:clrScheme name="MemoryTutor">
      <a:accent1>
        <a:srgbClr val="4F46E5"/>
      </a:accent1>
      <a:accent2>
        <a:srgbClr val="7C3AED"/>
      </a:accent2>
      <a:accent3>
        <a:srgbClr val="06B6D4"/>
      </a:accent3>
      <a:accent4>
        <a:srgbClr val="10B981"/>
      </a:accent4>
      <a:accent5>
        <a:srgbClr val="F59E0B"/>
      </a:accent5>
      <a:accent6>
        <a:srgbClr val="F43F5E"/>
      </a:accent6>
    </a:clrScheme>
    <a:fontScheme name="Office">
      <a:majorFont>
        <a:latin typeface="Calibri Light"/>
        <a:ea typeface="Calibri Light"/>
        <a:cs typeface="Calibri Light"/>
      </a:majorFont>
      <a:minorFont>
        <a:latin typeface="Calibri"/>
        <a:ea typeface="Calibri"/>
        <a:cs typeface="Calibri"/>
      </a:minorFont>
    </a:fontScheme>
    <a:fmtScheme name="MemoryTutor">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2026-04-29T17:42:10.4140000Z</dcterms:created>
  <dcterms:modified xsi:type="dcterms:W3CDTF">2026-04-29T17:42:10.4140000Z</dcterms:modified>
</coreProperties>
</file>